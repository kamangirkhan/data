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6"/>
  </p:notesMasterIdLst>
  <p:handoutMasterIdLst>
    <p:handoutMasterId r:id="rId37"/>
  </p:handoutMasterIdLst>
  <p:sldIdLst>
    <p:sldId id="256" r:id="rId5"/>
    <p:sldId id="278" r:id="rId6"/>
    <p:sldId id="281" r:id="rId7"/>
    <p:sldId id="282" r:id="rId8"/>
    <p:sldId id="266" r:id="rId9"/>
    <p:sldId id="284" r:id="rId10"/>
    <p:sldId id="285" r:id="rId11"/>
    <p:sldId id="264" r:id="rId12"/>
    <p:sldId id="265" r:id="rId13"/>
    <p:sldId id="286" r:id="rId14"/>
    <p:sldId id="268" r:id="rId15"/>
    <p:sldId id="270" r:id="rId16"/>
    <p:sldId id="287" r:id="rId17"/>
    <p:sldId id="293" r:id="rId18"/>
    <p:sldId id="294" r:id="rId19"/>
    <p:sldId id="273" r:id="rId20"/>
    <p:sldId id="276" r:id="rId21"/>
    <p:sldId id="277" r:id="rId22"/>
    <p:sldId id="290" r:id="rId23"/>
    <p:sldId id="291" r:id="rId24"/>
    <p:sldId id="295" r:id="rId25"/>
    <p:sldId id="292" r:id="rId26"/>
    <p:sldId id="257" r:id="rId27"/>
    <p:sldId id="279" r:id="rId28"/>
    <p:sldId id="258" r:id="rId29"/>
    <p:sldId id="280" r:id="rId30"/>
    <p:sldId id="283" r:id="rId31"/>
    <p:sldId id="271" r:id="rId32"/>
    <p:sldId id="272" r:id="rId33"/>
    <p:sldId id="274" r:id="rId34"/>
    <p:sldId id="27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593" autoAdjust="0"/>
  </p:normalViewPr>
  <p:slideViewPr>
    <p:cSldViewPr snapToGrid="0">
      <p:cViewPr varScale="1">
        <p:scale>
          <a:sx n="53" d="100"/>
          <a:sy n="53" d="100"/>
        </p:scale>
        <p:origin x="1795" y="269"/>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12/11/2025</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12/11/2025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Arash Nateghian.</a:t>
            </a:r>
            <a:br>
              <a:rPr lang="en-US" dirty="0"/>
            </a:br>
            <a:r>
              <a:rPr lang="en-US" dirty="0"/>
              <a:t>(pause)</a:t>
            </a:r>
          </a:p>
          <a:p>
            <a:r>
              <a:rPr lang="en-US" dirty="0"/>
              <a:t>Today I’m presenting my analysis of Alcohol Beverage Services store performance.</a:t>
            </a:r>
            <a:br>
              <a:rPr lang="en-US" dirty="0"/>
            </a:br>
            <a:r>
              <a:rPr lang="en-US" dirty="0"/>
              <a:t>My goal in this project was to understand </a:t>
            </a:r>
            <a:r>
              <a:rPr lang="en-US" i="1" dirty="0"/>
              <a:t>why</a:t>
            </a:r>
            <a:r>
              <a:rPr lang="en-US" dirty="0"/>
              <a:t> stores perform differently, not only in total revenue, but in efficiency, traffic patterns, basket behavior, and category mix.</a:t>
            </a:r>
            <a:br>
              <a:rPr lang="en-US" dirty="0"/>
            </a:br>
            <a:r>
              <a:rPr lang="en-US" dirty="0"/>
              <a:t>(slight pause)</a:t>
            </a:r>
          </a:p>
          <a:p>
            <a:r>
              <a:rPr lang="en-US" dirty="0"/>
              <a:t>Using transaction-level sales data, store attributes, and statistical modeling, I evaluated which stores perform above expectations and which ones fall short.</a:t>
            </a:r>
            <a:br>
              <a:rPr lang="en-US" dirty="0"/>
            </a:br>
            <a:r>
              <a:rPr lang="en-US" dirty="0"/>
              <a:t>(pause)</a:t>
            </a:r>
          </a:p>
          <a:p>
            <a:r>
              <a:rPr lang="en-US" dirty="0"/>
              <a:t>This analysis supports more informed operational, inventory, and merchandising decisions for ABS.”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“ABS operates under a unique dual mission: to protect public safety </a:t>
            </a:r>
            <a:r>
              <a:rPr lang="en-US" i="1" dirty="0"/>
              <a:t>and</a:t>
            </a:r>
            <a:r>
              <a:rPr lang="en-US" dirty="0"/>
              <a:t> to generate revenue for the county. (slow)</a:t>
            </a:r>
          </a:p>
          <a:p>
            <a:r>
              <a:rPr lang="en-US" dirty="0"/>
              <a:t>To achieve that, it’s essential to understand </a:t>
            </a:r>
            <a:r>
              <a:rPr lang="en-US" i="1" dirty="0"/>
              <a:t>why</a:t>
            </a:r>
            <a:r>
              <a:rPr lang="en-US" dirty="0"/>
              <a:t> stores perform </a:t>
            </a:r>
            <a:r>
              <a:rPr lang="en-US" dirty="0" err="1"/>
              <a:t>differently,whether</a:t>
            </a:r>
            <a:r>
              <a:rPr lang="en-US" dirty="0"/>
              <a:t> the drivers are traffic, product mix, or basket behavior. These differences directly affect inventory planning, staffing, and assortment strategy.</a:t>
            </a:r>
            <a:br>
              <a:rPr lang="en-US" dirty="0"/>
            </a:br>
            <a:r>
              <a:rPr lang="en-US" dirty="0"/>
              <a:t>(pause)</a:t>
            </a:r>
          </a:p>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analysis is built on three core datasets: line-level transactions, store square footage, and demographic attributes.</a:t>
            </a:r>
            <a:br>
              <a:rPr lang="en-US" dirty="0"/>
            </a:br>
            <a:r>
              <a:rPr lang="en-US" dirty="0"/>
              <a:t>I performed extensive cleaning, standardizing classification labels, correcting pack and size units, removing non-retail items, flagging refunds, and validating all date and quantity fields. (pause)</a:t>
            </a:r>
          </a:p>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2182522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ranks stores by total revenue, But raw revenue by itself can be misleading, because it doesn’t account for store size or how much traffic each location receives. (pause)</a:t>
            </a:r>
          </a:p>
          <a:p>
            <a:r>
              <a:rPr lang="en-US" dirty="0"/>
              <a:t>That’s why later in the presentation I shift to evaluating performance </a:t>
            </a:r>
            <a:r>
              <a:rPr lang="en-US" i="1" dirty="0"/>
              <a:t>per square foot</a:t>
            </a:r>
            <a:r>
              <a:rPr lang="en-US" dirty="0"/>
              <a:t>, which gives a much more accurate picture of true efficiency.”</a:t>
            </a:r>
          </a:p>
          <a:p>
            <a:endParaRPr lang="en-US" dirty="0"/>
          </a:p>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1025326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“Liquor drives the majority of system revenue, Decisions around liquor shelving, facings, and replenishment have the biggest impact on overall performance.”</a:t>
            </a:r>
          </a:p>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4</a:t>
            </a:fld>
            <a:endParaRPr lang="en-US" dirty="0"/>
          </a:p>
        </p:txBody>
      </p:sp>
    </p:spTree>
    <p:extLst>
      <p:ext uri="{BB962C8B-B14F-4D97-AF65-F5344CB8AC3E}">
        <p14:creationId xmlns:p14="http://schemas.microsoft.com/office/powerpoint/2010/main" val="236659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looks at unit prices from two perspectives.</a:t>
            </a:r>
            <a:br>
              <a:rPr lang="en-US" dirty="0"/>
            </a:br>
            <a:r>
              <a:rPr lang="en-US" dirty="0"/>
              <a:t>(pause)</a:t>
            </a:r>
          </a:p>
          <a:p>
            <a:r>
              <a:rPr lang="en-US" dirty="0"/>
              <a:t>On the left, the histogram shows the overall price distribution. Most transactions fall in the low-to-moderate price range, with a long tail of premium items on the right. </a:t>
            </a:r>
            <a:br>
              <a:rPr lang="en-US" dirty="0"/>
            </a:br>
            <a:r>
              <a:rPr lang="en-US" dirty="0"/>
              <a:t>(pause)</a:t>
            </a:r>
          </a:p>
          <a:p>
            <a:r>
              <a:rPr lang="en-US" dirty="0"/>
              <a:t>On the right, the boxplots break this out by department. Liquor and wine show much wider price ranges, while beer item stay tightly clustered at lower price points.</a:t>
            </a:r>
            <a:br>
              <a:rPr lang="en-US" dirty="0"/>
            </a:br>
            <a:r>
              <a:rPr lang="en-US" dirty="0"/>
              <a:t>(pause)</a:t>
            </a:r>
          </a:p>
          <a:p>
            <a:endParaRPr lang="en-US" dirty="0"/>
          </a:p>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5</a:t>
            </a:fld>
            <a:endParaRPr lang="en-US" dirty="0"/>
          </a:p>
        </p:txBody>
      </p:sp>
    </p:spTree>
    <p:extLst>
      <p:ext uri="{BB962C8B-B14F-4D97-AF65-F5344CB8AC3E}">
        <p14:creationId xmlns:p14="http://schemas.microsoft.com/office/powerpoint/2010/main" val="3105683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look at volume, the top items by quantity are mostly small bottles  especially 50 mL minis.</a:t>
            </a:r>
            <a:br>
              <a:rPr lang="en-US" dirty="0"/>
            </a:br>
            <a:r>
              <a:rPr lang="en-US" dirty="0"/>
              <a:t>These items aren’t high-value individually, but they drive a huge share of store traffic. (pause)</a:t>
            </a:r>
          </a:p>
          <a:p>
            <a:r>
              <a:rPr lang="en-US" dirty="0"/>
              <a:t>Minis in particular influence several operational factors:</a:t>
            </a:r>
            <a:br>
              <a:rPr lang="en-US" dirty="0"/>
            </a:br>
            <a:r>
              <a:rPr lang="en-US" dirty="0"/>
              <a:t>• they increase transaction count,</a:t>
            </a:r>
            <a:br>
              <a:rPr lang="en-US" dirty="0"/>
            </a:br>
            <a:r>
              <a:rPr lang="en-US" dirty="0"/>
              <a:t>• they create foot-traffic pressure,</a:t>
            </a:r>
            <a:br>
              <a:rPr lang="en-US" dirty="0"/>
            </a:br>
            <a:r>
              <a:rPr lang="en-US" dirty="0"/>
              <a:t>• they add shrink risk,</a:t>
            </a:r>
            <a:br>
              <a:rPr lang="en-US" dirty="0"/>
            </a:br>
            <a:r>
              <a:rPr lang="en-US" dirty="0"/>
              <a:t>• and they increase checkout workload.</a:t>
            </a:r>
          </a:p>
        </p:txBody>
      </p:sp>
      <p:sp>
        <p:nvSpPr>
          <p:cNvPr id="4" name="Slide Number Placeholder 3"/>
          <p:cNvSpPr>
            <a:spLocks noGrp="1"/>
          </p:cNvSpPr>
          <p:nvPr>
            <p:ph type="sldNum" sz="quarter" idx="5"/>
          </p:nvPr>
        </p:nvSpPr>
        <p:spPr/>
        <p:txBody>
          <a:bodyPr/>
          <a:lstStyle/>
          <a:p>
            <a:fld id="{22289C57-55D7-40A4-A101-E74FAC7A092B}" type="slidenum">
              <a:rPr lang="en-US" smtClean="0"/>
              <a:t>6</a:t>
            </a:fld>
            <a:endParaRPr lang="en-US" dirty="0"/>
          </a:p>
        </p:txBody>
      </p:sp>
    </p:spTree>
    <p:extLst>
      <p:ext uri="{BB962C8B-B14F-4D97-AF65-F5344CB8AC3E}">
        <p14:creationId xmlns:p14="http://schemas.microsoft.com/office/powerpoint/2010/main" val="575465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shift from volume to revenue, the story reverses. Premium spirits dominate.</a:t>
            </a:r>
            <a:br>
              <a:rPr lang="en-US" dirty="0"/>
            </a:br>
            <a:r>
              <a:rPr lang="en-US" dirty="0"/>
              <a:t>The top contributors are large-format </a:t>
            </a:r>
            <a:r>
              <a:rPr lang="en-US" dirty="0" err="1"/>
              <a:t>liqures</a:t>
            </a:r>
            <a:r>
              <a:rPr lang="en-US" dirty="0"/>
              <a:t>  essentially the higher-end spirits that generate most of the money. (pause)</a:t>
            </a:r>
          </a:p>
          <a:p>
            <a:r>
              <a:rPr lang="en-US" dirty="0"/>
              <a:t>So the pattern is clear:</a:t>
            </a:r>
            <a:br>
              <a:rPr lang="en-US" dirty="0"/>
            </a:br>
            <a:r>
              <a:rPr lang="en-US" dirty="0"/>
              <a:t>• minis drive traffic,</a:t>
            </a:r>
            <a:br>
              <a:rPr lang="en-US" dirty="0"/>
            </a:br>
            <a:r>
              <a:rPr lang="en-US" dirty="0"/>
              <a:t>• large bottles drive revenue.</a:t>
            </a:r>
            <a:br>
              <a:rPr lang="en-US" dirty="0"/>
            </a:br>
            <a:r>
              <a:rPr lang="en-US" dirty="0"/>
              <a:t>Both segments are essential, but they play very different roles in store performance.”</a:t>
            </a:r>
          </a:p>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7</a:t>
            </a:fld>
            <a:endParaRPr lang="en-US" dirty="0"/>
          </a:p>
        </p:txBody>
      </p:sp>
    </p:spTree>
    <p:extLst>
      <p:ext uri="{BB962C8B-B14F-4D97-AF65-F5344CB8AC3E}">
        <p14:creationId xmlns:p14="http://schemas.microsoft.com/office/powerpoint/2010/main" val="5377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compare sales to square footage, the relationship is surprisingly weak.</a:t>
            </a:r>
            <a:br>
              <a:rPr lang="en-US" dirty="0"/>
            </a:br>
            <a:r>
              <a:rPr lang="en-US" dirty="0"/>
              <a:t>Yes, larger stores tend to sell more overall, but the spread is huge. (pause)</a:t>
            </a:r>
          </a:p>
          <a:p>
            <a:r>
              <a:rPr lang="en-US" dirty="0"/>
              <a:t>Some small stores outperform much larger ones, and some large stores underperform.</a:t>
            </a:r>
            <a:br>
              <a:rPr lang="en-US" dirty="0"/>
            </a:br>
            <a:r>
              <a:rPr lang="en-US" dirty="0"/>
              <a:t>So store size alone does not explain performance, which is why the behavioral KPIs become so important later in the analysis.”</a:t>
            </a:r>
          </a:p>
          <a:p>
            <a:endParaRPr lang="en-US" dirty="0"/>
          </a:p>
          <a:p>
            <a:endParaRPr lang="en-US" dirty="0"/>
          </a:p>
        </p:txBody>
      </p:sp>
      <p:sp>
        <p:nvSpPr>
          <p:cNvPr id="4" name="Slide Number Placeholder 3"/>
          <p:cNvSpPr>
            <a:spLocks noGrp="1"/>
          </p:cNvSpPr>
          <p:nvPr>
            <p:ph type="sldNum" sz="quarter" idx="5"/>
          </p:nvPr>
        </p:nvSpPr>
        <p:spPr/>
        <p:txBody>
          <a:bodyPr/>
          <a:lstStyle/>
          <a:p>
            <a:fld id="{6751D913-0D5D-4D23-8F9E-8787AE3E9EC8}" type="slidenum">
              <a:rPr lang="en-US" smtClean="0"/>
              <a:t>8</a:t>
            </a:fld>
            <a:endParaRPr lang="en-US"/>
          </a:p>
        </p:txBody>
      </p:sp>
    </p:spTree>
    <p:extLst>
      <p:ext uri="{BB962C8B-B14F-4D97-AF65-F5344CB8AC3E}">
        <p14:creationId xmlns:p14="http://schemas.microsoft.com/office/powerpoint/2010/main" val="1421916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charts test a simple question: do demographics explain why some stores perform better than others?</a:t>
            </a:r>
            <a:br>
              <a:rPr lang="en-US" dirty="0"/>
            </a:br>
            <a:r>
              <a:rPr lang="en-US" dirty="0"/>
              <a:t>And the answer is </a:t>
            </a:r>
            <a:r>
              <a:rPr lang="en-US" b="1" dirty="0"/>
              <a:t>no</a:t>
            </a:r>
            <a:r>
              <a:rPr lang="en-US" dirty="0"/>
              <a:t>. (pause)</a:t>
            </a:r>
          </a:p>
          <a:p>
            <a:r>
              <a:rPr lang="en-US" dirty="0"/>
              <a:t>The relationships are weak and inconsistent across all major demographic variables.</a:t>
            </a:r>
          </a:p>
          <a:p>
            <a:r>
              <a:rPr lang="en-US" dirty="0"/>
              <a:t>Population, Poverty, +25Years</a:t>
            </a:r>
            <a:br>
              <a:rPr lang="en-US" dirty="0"/>
            </a:br>
            <a:r>
              <a:rPr lang="en-US" dirty="0"/>
              <a:t>(pause)</a:t>
            </a:r>
          </a:p>
          <a:p>
            <a:r>
              <a:rPr lang="en-US" dirty="0"/>
              <a:t>This is important, because it means store outcomes are shaped far more by operations than by external demographic conditions.”</a:t>
            </a:r>
          </a:p>
          <a:p>
            <a:endParaRPr lang="en-US" dirty="0"/>
          </a:p>
          <a:p>
            <a:endParaRPr lang="en-US" dirty="0"/>
          </a:p>
        </p:txBody>
      </p:sp>
      <p:sp>
        <p:nvSpPr>
          <p:cNvPr id="4" name="Slide Number Placeholder 3"/>
          <p:cNvSpPr>
            <a:spLocks noGrp="1"/>
          </p:cNvSpPr>
          <p:nvPr>
            <p:ph type="sldNum" sz="quarter" idx="5"/>
          </p:nvPr>
        </p:nvSpPr>
        <p:spPr/>
        <p:txBody>
          <a:bodyPr/>
          <a:lstStyle/>
          <a:p>
            <a:fld id="{6751D913-0D5D-4D23-8F9E-8787AE3E9EC8}" type="slidenum">
              <a:rPr lang="en-US" smtClean="0"/>
              <a:t>9</a:t>
            </a:fld>
            <a:endParaRPr lang="en-US"/>
          </a:p>
        </p:txBody>
      </p:sp>
    </p:spTree>
    <p:extLst>
      <p:ext uri="{BB962C8B-B14F-4D97-AF65-F5344CB8AC3E}">
        <p14:creationId xmlns:p14="http://schemas.microsoft.com/office/powerpoint/2010/main" val="1167232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“Basket values vary a lot across the system. some stores average in the low twenties, while others approach thirty dollars. (pause)</a:t>
            </a:r>
          </a:p>
          <a:p>
            <a:r>
              <a:rPr lang="en-US" dirty="0"/>
              <a:t>This variation is important because it explains why stores with similar traffic sometimes produce very different revenue outcomes.</a:t>
            </a:r>
            <a:br>
              <a:rPr lang="en-US" dirty="0"/>
            </a:br>
            <a:endParaRPr lang="en-US" dirty="0"/>
          </a:p>
        </p:txBody>
      </p:sp>
      <p:sp>
        <p:nvSpPr>
          <p:cNvPr id="4" name="Slide Number Placeholder 3"/>
          <p:cNvSpPr>
            <a:spLocks noGrp="1"/>
          </p:cNvSpPr>
          <p:nvPr>
            <p:ph type="sldNum" sz="quarter" idx="5"/>
          </p:nvPr>
        </p:nvSpPr>
        <p:spPr/>
        <p:txBody>
          <a:bodyPr/>
          <a:lstStyle/>
          <a:p>
            <a:fld id="{6751D913-0D5D-4D23-8F9E-8787AE3E9EC8}" type="slidenum">
              <a:rPr lang="en-US" smtClean="0"/>
              <a:t>10</a:t>
            </a:fld>
            <a:endParaRPr lang="en-US"/>
          </a:p>
        </p:txBody>
      </p:sp>
    </p:spTree>
    <p:extLst>
      <p:ext uri="{BB962C8B-B14F-4D97-AF65-F5344CB8AC3E}">
        <p14:creationId xmlns:p14="http://schemas.microsoft.com/office/powerpoint/2010/main" val="897829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visuals in my entire project. (slow)</a:t>
            </a:r>
            <a:br>
              <a:rPr lang="en-US" dirty="0"/>
            </a:br>
            <a:r>
              <a:rPr lang="en-US" dirty="0"/>
              <a:t>By using the medians of Sales per </a:t>
            </a:r>
            <a:r>
              <a:rPr lang="en-US" dirty="0" err="1"/>
              <a:t>SqFt</a:t>
            </a:r>
            <a:r>
              <a:rPr lang="en-US" dirty="0"/>
              <a:t> and Transactions per </a:t>
            </a:r>
            <a:r>
              <a:rPr lang="en-US" dirty="0" err="1"/>
              <a:t>SqFt</a:t>
            </a:r>
            <a:r>
              <a:rPr lang="en-US" dirty="0"/>
              <a:t>, I classify every store into four behavioral quadrants:</a:t>
            </a:r>
            <a:br>
              <a:rPr lang="en-US" dirty="0"/>
            </a:br>
            <a:r>
              <a:rPr lang="en-US" dirty="0"/>
              <a:t>• High Spend / High Traffic</a:t>
            </a:r>
            <a:br>
              <a:rPr lang="en-US" dirty="0"/>
            </a:br>
            <a:r>
              <a:rPr lang="en-US" dirty="0"/>
              <a:t>• High Spend / Low Traffic</a:t>
            </a:r>
            <a:br>
              <a:rPr lang="en-US" dirty="0"/>
            </a:br>
            <a:r>
              <a:rPr lang="en-US" dirty="0"/>
              <a:t>• Low Spend / High Traffic</a:t>
            </a:r>
            <a:br>
              <a:rPr lang="en-US" dirty="0"/>
            </a:br>
            <a:r>
              <a:rPr lang="en-US" dirty="0"/>
              <a:t>• Low Spend / Low Traffic</a:t>
            </a:r>
          </a:p>
          <a:p>
            <a:r>
              <a:rPr lang="en-US" dirty="0"/>
              <a:t>This segmentation shows each store’s structural position in the system. (pause)</a:t>
            </a:r>
            <a:br>
              <a:rPr lang="en-US" dirty="0"/>
            </a:br>
            <a:r>
              <a:rPr lang="en-US" dirty="0"/>
              <a:t>At the top, stores like Montrose, Kensington, Hampden Lane, Potomac, and Olney deliver strong traffic </a:t>
            </a:r>
            <a:r>
              <a:rPr lang="en-US" b="1" dirty="0"/>
              <a:t>and</a:t>
            </a:r>
            <a:r>
              <a:rPr lang="en-US" dirty="0"/>
              <a:t> strong spend.</a:t>
            </a:r>
            <a:br>
              <a:rPr lang="en-US" dirty="0"/>
            </a:br>
            <a:r>
              <a:rPr lang="en-US" dirty="0"/>
              <a:t>At the bottom, locations such as </a:t>
            </a:r>
            <a:r>
              <a:rPr lang="en-US" dirty="0" err="1"/>
              <a:t>Westbard</a:t>
            </a:r>
            <a:r>
              <a:rPr lang="en-US" dirty="0"/>
              <a:t>, Poolesville, Gaithersburg, and Burtonsville fall behind on both dimensions.</a:t>
            </a:r>
          </a:p>
          <a:p>
            <a:r>
              <a:rPr lang="en-US" dirty="0"/>
              <a:t>The key insight is that traffic alone is not enough. (pause)</a:t>
            </a:r>
            <a:br>
              <a:rPr lang="en-US" dirty="0"/>
            </a:br>
            <a:r>
              <a:rPr lang="en-US" dirty="0"/>
              <a:t>Several stores with similar traffic levels generate very different sales per square foot.</a:t>
            </a:r>
          </a:p>
        </p:txBody>
      </p:sp>
      <p:sp>
        <p:nvSpPr>
          <p:cNvPr id="4" name="Slide Number Placeholder 3"/>
          <p:cNvSpPr>
            <a:spLocks noGrp="1"/>
          </p:cNvSpPr>
          <p:nvPr>
            <p:ph type="sldNum" sz="quarter" idx="5"/>
          </p:nvPr>
        </p:nvSpPr>
        <p:spPr/>
        <p:txBody>
          <a:bodyPr/>
          <a:lstStyle/>
          <a:p>
            <a:fld id="{6751D913-0D5D-4D23-8F9E-8787AE3E9EC8}" type="slidenum">
              <a:rPr lang="en-US" smtClean="0"/>
              <a:t>11</a:t>
            </a:fld>
            <a:endParaRPr lang="en-US"/>
          </a:p>
        </p:txBody>
      </p:sp>
    </p:spTree>
    <p:extLst>
      <p:ext uri="{BB962C8B-B14F-4D97-AF65-F5344CB8AC3E}">
        <p14:creationId xmlns:p14="http://schemas.microsoft.com/office/powerpoint/2010/main" val="1994460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second quadrant swaps traffic for basket density, baskets per square foot. (pause)</a:t>
            </a:r>
            <a:br>
              <a:rPr lang="en-US" dirty="0"/>
            </a:br>
            <a:r>
              <a:rPr lang="en-US" dirty="0"/>
              <a:t>What it shows is that stores with similar traffic begin to separate quickly once we look at how much customers actually buy.</a:t>
            </a:r>
            <a:br>
              <a:rPr lang="en-US" dirty="0"/>
            </a:br>
            <a:r>
              <a:rPr lang="en-US" dirty="0"/>
              <a:t>Some locations bring in a steady stream of shoppers, but those shoppers leave with very small baskets.</a:t>
            </a:r>
            <a:br>
              <a:rPr lang="en-US" dirty="0"/>
            </a:br>
            <a:r>
              <a:rPr lang="en-US" dirty="0"/>
              <a:t>Others attract fewer customers overall but generate consistently strong baskets, which usually reflects a small but highly committed customer base. (pause)</a:t>
            </a:r>
          </a:p>
          <a:p>
            <a:r>
              <a:rPr lang="en-US" dirty="0"/>
              <a:t>The key point is that basket density is a major differentiator.</a:t>
            </a:r>
            <a:br>
              <a:rPr lang="en-US" dirty="0"/>
            </a:br>
            <a:r>
              <a:rPr lang="en-US" dirty="0"/>
              <a:t>It explains why two stores with similar foot traffic can produce very different revenue outcomes.”</a:t>
            </a:r>
            <a:br>
              <a:rPr lang="en-US" dirty="0"/>
            </a:br>
            <a:endParaRPr lang="en-US" dirty="0"/>
          </a:p>
        </p:txBody>
      </p:sp>
      <p:sp>
        <p:nvSpPr>
          <p:cNvPr id="4" name="Slide Number Placeholder 3"/>
          <p:cNvSpPr>
            <a:spLocks noGrp="1"/>
          </p:cNvSpPr>
          <p:nvPr>
            <p:ph type="sldNum" sz="quarter" idx="5"/>
          </p:nvPr>
        </p:nvSpPr>
        <p:spPr/>
        <p:txBody>
          <a:bodyPr/>
          <a:lstStyle/>
          <a:p>
            <a:fld id="{6751D913-0D5D-4D23-8F9E-8787AE3E9EC8}" type="slidenum">
              <a:rPr lang="en-US" smtClean="0"/>
              <a:t>12</a:t>
            </a:fld>
            <a:endParaRPr lang="en-US"/>
          </a:p>
        </p:txBody>
      </p:sp>
    </p:spTree>
    <p:extLst>
      <p:ext uri="{BB962C8B-B14F-4D97-AF65-F5344CB8AC3E}">
        <p14:creationId xmlns:p14="http://schemas.microsoft.com/office/powerpoint/2010/main" val="7965560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quadrant brings traffic and basket density together, creating four clear operational archetypes. (pause)</a:t>
            </a:r>
            <a:br>
              <a:rPr lang="en-US" dirty="0"/>
            </a:br>
            <a:r>
              <a:rPr lang="en-US" dirty="0"/>
              <a:t>High-traffic, high-basket stores perform well across both dimensions.</a:t>
            </a:r>
            <a:br>
              <a:rPr lang="en-US" dirty="0"/>
            </a:br>
            <a:r>
              <a:rPr lang="en-US" dirty="0"/>
              <a:t>High-traffic but low-basket stores draw customers in, but fail to convert that traffic into meaningful spend.</a:t>
            </a:r>
            <a:br>
              <a:rPr lang="en-US" dirty="0"/>
            </a:br>
            <a:r>
              <a:rPr lang="en-US" dirty="0"/>
              <a:t>Low-traffic but high-basket stores sell well to the customers they do have, but their reach is limited.</a:t>
            </a:r>
            <a:br>
              <a:rPr lang="en-US" dirty="0"/>
            </a:br>
            <a:r>
              <a:rPr lang="en-US" dirty="0"/>
              <a:t>And low–low stores show structural weaknesses in both demand and buying behavior. (pause)</a:t>
            </a:r>
          </a:p>
        </p:txBody>
      </p:sp>
      <p:sp>
        <p:nvSpPr>
          <p:cNvPr id="4" name="Slide Number Placeholder 3"/>
          <p:cNvSpPr>
            <a:spLocks noGrp="1"/>
          </p:cNvSpPr>
          <p:nvPr>
            <p:ph type="sldNum" sz="quarter" idx="5"/>
          </p:nvPr>
        </p:nvSpPr>
        <p:spPr/>
        <p:txBody>
          <a:bodyPr/>
          <a:lstStyle/>
          <a:p>
            <a:fld id="{6751D913-0D5D-4D23-8F9E-8787AE3E9EC8}" type="slidenum">
              <a:rPr lang="en-US" smtClean="0"/>
              <a:t>13</a:t>
            </a:fld>
            <a:endParaRPr lang="en-US"/>
          </a:p>
        </p:txBody>
      </p:sp>
    </p:spTree>
    <p:extLst>
      <p:ext uri="{BB962C8B-B14F-4D97-AF65-F5344CB8AC3E}">
        <p14:creationId xmlns:p14="http://schemas.microsoft.com/office/powerpoint/2010/main" val="31303313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6EE88-A347-8B8F-E1E8-5841B77206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1689C2-AC29-3433-AD7C-A09F3B19E8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C3726A-1153-068A-6AD3-15F31EC61A87}"/>
              </a:ext>
            </a:extLst>
          </p:cNvPr>
          <p:cNvSpPr>
            <a:spLocks noGrp="1"/>
          </p:cNvSpPr>
          <p:nvPr>
            <p:ph type="body" idx="1"/>
          </p:nvPr>
        </p:nvSpPr>
        <p:spPr/>
        <p:txBody>
          <a:bodyPr/>
          <a:lstStyle/>
          <a:p>
            <a:r>
              <a:rPr lang="en-US" dirty="0"/>
              <a:t>“Now I’ll explain briefly how the statistical modeling was structured.</a:t>
            </a:r>
          </a:p>
          <a:p>
            <a:r>
              <a:rPr lang="en-US" dirty="0"/>
              <a:t>I modeled </a:t>
            </a:r>
            <a:r>
              <a:rPr lang="en-US" b="1" dirty="0"/>
              <a:t>log of </a:t>
            </a:r>
            <a:r>
              <a:rPr lang="en-US" b="1" dirty="0" err="1"/>
              <a:t>SalesPerSqFt</a:t>
            </a:r>
            <a:r>
              <a:rPr lang="en-US" dirty="0"/>
              <a:t> as the response for all 27 stores, using a set of 12 predictors covering store size, demographics, basket metrics, traffic intensity, and category mix. Those predictors were included because they’re the operational levers I expect could influence store performance.</a:t>
            </a:r>
          </a:p>
          <a:p>
            <a:r>
              <a:rPr lang="en-US" dirty="0"/>
              <a:t>The main analytical model is an </a:t>
            </a:r>
            <a:r>
              <a:rPr lang="en-US" b="1" dirty="0"/>
              <a:t>OLS regression</a:t>
            </a:r>
            <a:r>
              <a:rPr lang="en-US" dirty="0"/>
              <a:t>, and throughout the analysis I use the standard significance threshold </a:t>
            </a:r>
            <a:r>
              <a:rPr lang="en-US" b="1" dirty="0"/>
              <a:t>α = 0.05 zero point zero five</a:t>
            </a:r>
            <a:r>
              <a:rPr lang="en-US" dirty="0"/>
              <a:t>.. That means a predictor with a p-value below </a:t>
            </a:r>
            <a:r>
              <a:rPr lang="en-US" b="1" dirty="0"/>
              <a:t>0.05 zero point zero five</a:t>
            </a:r>
            <a:r>
              <a:rPr lang="en-US" dirty="0"/>
              <a:t> is considered statistically significant in this sample; a predictor slightly above </a:t>
            </a:r>
            <a:r>
              <a:rPr lang="en-US" b="1" dirty="0"/>
              <a:t>0.05</a:t>
            </a:r>
            <a:r>
              <a:rPr lang="en-US" dirty="0"/>
              <a:t> </a:t>
            </a:r>
            <a:r>
              <a:rPr lang="en-US" b="1" dirty="0"/>
              <a:t>zero point zero five</a:t>
            </a:r>
            <a:r>
              <a:rPr lang="en-US" dirty="0"/>
              <a:t> is treated as suggestive but not definitive.</a:t>
            </a:r>
          </a:p>
          <a:p>
            <a:r>
              <a:rPr lang="en-US" dirty="0"/>
              <a:t>I used an Ordinary </a:t>
            </a:r>
            <a:r>
              <a:rPr lang="en-US" b="1" dirty="0"/>
              <a:t>Least Squares regression OLS</a:t>
            </a:r>
            <a:r>
              <a:rPr lang="en-US" dirty="0"/>
              <a:t>, which is a statistical method that estimates how different factors combine to explain store performance.</a:t>
            </a:r>
          </a:p>
          <a:p>
            <a:r>
              <a:rPr lang="en-US" dirty="0"/>
              <a:t>“OLS looks at all 27 stores and asks: based on size, traffic, basket behavior, and mix, what sales per square foot should each store achieve?</a:t>
            </a:r>
          </a:p>
          <a:p>
            <a:endParaRPr lang="en-US" dirty="0"/>
          </a:p>
          <a:p>
            <a:r>
              <a:rPr lang="en-US" dirty="0"/>
              <a:t>The OLS results reflect this:</a:t>
            </a:r>
            <a:br>
              <a:rPr lang="en-US" dirty="0"/>
            </a:br>
            <a:r>
              <a:rPr lang="en-US" dirty="0"/>
              <a:t>• </a:t>
            </a:r>
            <a:r>
              <a:rPr lang="en-US" b="1" dirty="0"/>
              <a:t>Traffic intensity</a:t>
            </a:r>
            <a:r>
              <a:rPr lang="en-US" dirty="0"/>
              <a:t> has by far the strongest signal, with an extremely small p-value, so traffic per square foot is the main driver of sales productivity.</a:t>
            </a:r>
            <a:br>
              <a:rPr lang="en-US" dirty="0"/>
            </a:br>
            <a:r>
              <a:rPr lang="en-US" dirty="0"/>
              <a:t>• The </a:t>
            </a:r>
            <a:r>
              <a:rPr lang="en-US" b="1" dirty="0"/>
              <a:t>category mix shares</a:t>
            </a:r>
            <a:r>
              <a:rPr lang="en-US" dirty="0"/>
              <a:t> for beer, liquor, and wine also show strong significance, meaning stores that sell proportionally more core alcohol categories outperform others.</a:t>
            </a:r>
          </a:p>
          <a:p>
            <a:r>
              <a:rPr lang="en-US" dirty="0"/>
              <a:t>• </a:t>
            </a:r>
            <a:r>
              <a:rPr lang="en-US" b="1" dirty="0" err="1"/>
              <a:t>Avg_BasketValue</a:t>
            </a:r>
            <a:r>
              <a:rPr lang="en-US" dirty="0"/>
              <a:t> has a borderline p-value around </a:t>
            </a:r>
            <a:r>
              <a:rPr lang="en-US" b="1" dirty="0"/>
              <a:t>0.06</a:t>
            </a:r>
            <a:r>
              <a:rPr lang="en-US" dirty="0"/>
              <a:t> </a:t>
            </a:r>
            <a:r>
              <a:rPr lang="en-US" b="1" dirty="0"/>
              <a:t>zero point zero six</a:t>
            </a:r>
            <a:r>
              <a:rPr lang="en-US" dirty="0"/>
              <a:t>. so directionally positive but weaker.</a:t>
            </a:r>
            <a:br>
              <a:rPr lang="en-US" dirty="0"/>
            </a:br>
            <a:r>
              <a:rPr lang="en-US" dirty="0"/>
              <a:t>• Metrics like store size and the basic demographics have large p-values, and act mainly as controls rather than active drivers in this dataset.</a:t>
            </a:r>
          </a:p>
        </p:txBody>
      </p:sp>
      <p:sp>
        <p:nvSpPr>
          <p:cNvPr id="4" name="Slide Number Placeholder 3">
            <a:extLst>
              <a:ext uri="{FF2B5EF4-FFF2-40B4-BE49-F238E27FC236}">
                <a16:creationId xmlns:a16="http://schemas.microsoft.com/office/drawing/2014/main" id="{1EE7D376-90E1-4EC8-82EC-A8DA77124664}"/>
              </a:ext>
            </a:extLst>
          </p:cNvPr>
          <p:cNvSpPr>
            <a:spLocks noGrp="1"/>
          </p:cNvSpPr>
          <p:nvPr>
            <p:ph type="sldNum" sz="quarter" idx="5"/>
          </p:nvPr>
        </p:nvSpPr>
        <p:spPr/>
        <p:txBody>
          <a:bodyPr/>
          <a:lstStyle/>
          <a:p>
            <a:fld id="{6751D913-0D5D-4D23-8F9E-8787AE3E9EC8}" type="slidenum">
              <a:rPr lang="en-US" smtClean="0"/>
              <a:t>14</a:t>
            </a:fld>
            <a:endParaRPr lang="en-US"/>
          </a:p>
        </p:txBody>
      </p:sp>
    </p:spTree>
    <p:extLst>
      <p:ext uri="{BB962C8B-B14F-4D97-AF65-F5344CB8AC3E}">
        <p14:creationId xmlns:p14="http://schemas.microsoft.com/office/powerpoint/2010/main" val="25236404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0EB58-88B5-8086-B106-7E51F08684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97FEA-4B87-3EFF-BECD-0167D31CF7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B09EC-A1E2-FFD2-2839-B5004E3932CD}"/>
              </a:ext>
            </a:extLst>
          </p:cNvPr>
          <p:cNvSpPr>
            <a:spLocks noGrp="1"/>
          </p:cNvSpPr>
          <p:nvPr>
            <p:ph type="body" idx="1"/>
          </p:nvPr>
        </p:nvSpPr>
        <p:spPr/>
        <p:txBody>
          <a:bodyPr/>
          <a:lstStyle/>
          <a:p>
            <a:r>
              <a:rPr lang="en-US" dirty="0"/>
              <a:t>“To validate the models, I used two approaches: leave-one-out cross-validation for Elastic Net, and an 18/9 train–test split for OLS, Ridge, and LASSO. The results are clear.</a:t>
            </a:r>
          </a:p>
          <a:p>
            <a:r>
              <a:rPr lang="en-US" b="1" dirty="0"/>
              <a:t>OLS is the strongest model.</a:t>
            </a:r>
          </a:p>
          <a:p>
            <a:r>
              <a:rPr lang="en-US" dirty="0"/>
              <a:t>The full OLS model has an RMSE of about </a:t>
            </a:r>
            <a:r>
              <a:rPr lang="en-US" b="1" dirty="0"/>
              <a:t>144</a:t>
            </a:r>
            <a:r>
              <a:rPr lang="en-US" dirty="0"/>
              <a:t>, and the test RMSE rises only slightly to </a:t>
            </a:r>
            <a:r>
              <a:rPr lang="en-US" b="1" dirty="0"/>
              <a:t>153</a:t>
            </a:r>
            <a:r>
              <a:rPr lang="en-US" dirty="0"/>
              <a:t>, showing strong stability even with a small dataset.</a:t>
            </a:r>
          </a:p>
          <a:p>
            <a:r>
              <a:rPr lang="en-US" dirty="0"/>
              <a:t>The penalized models perform far worse.</a:t>
            </a:r>
            <a:br>
              <a:rPr lang="en-US" dirty="0"/>
            </a:br>
            <a:r>
              <a:rPr lang="en-US" dirty="0"/>
              <a:t>When these models are penalized, they collapse toward one dominant driver, </a:t>
            </a:r>
            <a:r>
              <a:rPr lang="en-US" b="1" dirty="0"/>
              <a:t>traffic intensity</a:t>
            </a:r>
            <a:r>
              <a:rPr lang="en-US" dirty="0"/>
              <a:t> which is exactly what the OLS significance tests also highlight.</a:t>
            </a:r>
          </a:p>
          <a:p>
            <a:r>
              <a:rPr lang="en-US" dirty="0"/>
              <a:t>The bootstrapping analysis confirms this pattern: high-traffic, high-spend stores average nearly double the </a:t>
            </a:r>
            <a:r>
              <a:rPr lang="en-US" dirty="0" err="1"/>
              <a:t>SalesPerSqFt</a:t>
            </a:r>
            <a:r>
              <a:rPr lang="en-US" dirty="0"/>
              <a:t> of low-traffic, low-spend stores, with no overlap in confidence intervals. These are real structural differences, not random noise.</a:t>
            </a:r>
          </a:p>
          <a:p>
            <a:r>
              <a:rPr lang="en-US" dirty="0"/>
              <a:t>Given the sample size, these models are descriptive rather than predictive, and together they make the same point: </a:t>
            </a:r>
            <a:r>
              <a:rPr lang="en-US" b="1" dirty="0"/>
              <a:t>traffic is the system’s primary performance driver, and OLS captures this relationship most effectively.</a:t>
            </a:r>
            <a:r>
              <a:rPr lang="en-US" dirty="0"/>
              <a:t>”</a:t>
            </a:r>
            <a:br>
              <a:rPr lang="en-US" dirty="0"/>
            </a:br>
            <a:br>
              <a:rPr lang="en-US" dirty="0"/>
            </a:br>
            <a:r>
              <a:rPr lang="en-US" sz="1200" b="0" i="0" kern="1200" dirty="0">
                <a:solidFill>
                  <a:schemeClr val="tx1"/>
                </a:solidFill>
                <a:effectLst/>
                <a:latin typeface="+mn-lt"/>
                <a:ea typeface="+mn-ea"/>
                <a:cs typeface="+mn-cs"/>
              </a:rPr>
              <a:t>The MAE is a linear score which means that all the individual differences are weighted equally in the average. The RMSE is a quadratic scoring rule which measures the average magnitude of the error. The equation for the RMSE is given in both of the references.</a:t>
            </a:r>
            <a:endParaRPr lang="en-US" dirty="0"/>
          </a:p>
        </p:txBody>
      </p:sp>
      <p:sp>
        <p:nvSpPr>
          <p:cNvPr id="4" name="Slide Number Placeholder 3">
            <a:extLst>
              <a:ext uri="{FF2B5EF4-FFF2-40B4-BE49-F238E27FC236}">
                <a16:creationId xmlns:a16="http://schemas.microsoft.com/office/drawing/2014/main" id="{0012F99F-39EC-3CB6-D070-39E4C754D158}"/>
              </a:ext>
            </a:extLst>
          </p:cNvPr>
          <p:cNvSpPr>
            <a:spLocks noGrp="1"/>
          </p:cNvSpPr>
          <p:nvPr>
            <p:ph type="sldNum" sz="quarter" idx="5"/>
          </p:nvPr>
        </p:nvSpPr>
        <p:spPr/>
        <p:txBody>
          <a:bodyPr/>
          <a:lstStyle/>
          <a:p>
            <a:fld id="{6751D913-0D5D-4D23-8F9E-8787AE3E9EC8}" type="slidenum">
              <a:rPr lang="en-US" smtClean="0"/>
              <a:t>15</a:t>
            </a:fld>
            <a:endParaRPr lang="en-US"/>
          </a:p>
        </p:txBody>
      </p:sp>
    </p:spTree>
    <p:extLst>
      <p:ext uri="{BB962C8B-B14F-4D97-AF65-F5344CB8AC3E}">
        <p14:creationId xmlns:p14="http://schemas.microsoft.com/office/powerpoint/2010/main" val="5942461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OLS model fits extremely well, it captures roughly 97% of the variation in sales per square foot. (pause)</a:t>
            </a:r>
            <a:br>
              <a:rPr lang="en-US" dirty="0"/>
            </a:br>
            <a:r>
              <a:rPr lang="en-US" dirty="0"/>
              <a:t>Each point represents a store.</a:t>
            </a:r>
            <a:br>
              <a:rPr lang="en-US" dirty="0"/>
            </a:br>
            <a:r>
              <a:rPr lang="en-US" dirty="0"/>
              <a:t>Stores above the diagonal deliver more sales than the model predicts; those below fall short relative to their size, traffic, basket behavior, and category mix. (pause)</a:t>
            </a:r>
            <a:br>
              <a:rPr lang="en-US" dirty="0"/>
            </a:br>
            <a:r>
              <a:rPr lang="en-US" dirty="0"/>
              <a:t>This makes the chart a defensible, data-driven benchmark for judging whether a store is performing at, above, or below its potential.”</a:t>
            </a:r>
          </a:p>
          <a:p>
            <a:br>
              <a:rPr lang="en-US" dirty="0"/>
            </a:br>
            <a:endParaRPr lang="en-US" b="1" dirty="0"/>
          </a:p>
        </p:txBody>
      </p:sp>
      <p:sp>
        <p:nvSpPr>
          <p:cNvPr id="4" name="Slide Number Placeholder 3"/>
          <p:cNvSpPr>
            <a:spLocks noGrp="1"/>
          </p:cNvSpPr>
          <p:nvPr>
            <p:ph type="sldNum" sz="quarter" idx="5"/>
          </p:nvPr>
        </p:nvSpPr>
        <p:spPr/>
        <p:txBody>
          <a:bodyPr/>
          <a:lstStyle/>
          <a:p>
            <a:fld id="{6751D913-0D5D-4D23-8F9E-8787AE3E9EC8}" type="slidenum">
              <a:rPr lang="en-US" smtClean="0"/>
              <a:t>16</a:t>
            </a:fld>
            <a:endParaRPr lang="en-US"/>
          </a:p>
        </p:txBody>
      </p:sp>
    </p:spTree>
    <p:extLst>
      <p:ext uri="{BB962C8B-B14F-4D97-AF65-F5344CB8AC3E}">
        <p14:creationId xmlns:p14="http://schemas.microsoft.com/office/powerpoint/2010/main" val="1576760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ranking shows which stores truly outperform or underperform after controlling for size, traffic, basket behavior, and category mix. (pause)</a:t>
            </a:r>
            <a:br>
              <a:rPr lang="en-US" dirty="0"/>
            </a:br>
            <a:r>
              <a:rPr lang="en-US" dirty="0"/>
              <a:t>On the overperforming side, stores like Cabin John, Goshen Crossing, and Silver Spring consistently exceed expectations, they convert their demand and product mix more effectively than the model predicts. (pause)</a:t>
            </a:r>
            <a:br>
              <a:rPr lang="en-US" dirty="0"/>
            </a:br>
            <a:r>
              <a:rPr lang="en-US" dirty="0"/>
              <a:t>On the underperforming side, Montrose, Kingsview, Burtonsville, and Hampden Lane fall well short of expected performance.</a:t>
            </a:r>
            <a:br>
              <a:rPr lang="en-US" dirty="0"/>
            </a:br>
            <a:r>
              <a:rPr lang="en-US" dirty="0"/>
              <a:t>And the critical point is this: Montrose, despite being the system’s top-revenue store, is one of the largest underperformers.</a:t>
            </a:r>
            <a:br>
              <a:rPr lang="en-US" dirty="0"/>
            </a:br>
            <a:r>
              <a:rPr lang="en-US" dirty="0"/>
              <a:t>That means a substantial portion of its potential is not being realized.” (pause)</a:t>
            </a:r>
          </a:p>
        </p:txBody>
      </p:sp>
      <p:sp>
        <p:nvSpPr>
          <p:cNvPr id="4" name="Slide Number Placeholder 3"/>
          <p:cNvSpPr>
            <a:spLocks noGrp="1"/>
          </p:cNvSpPr>
          <p:nvPr>
            <p:ph type="sldNum" sz="quarter" idx="5"/>
          </p:nvPr>
        </p:nvSpPr>
        <p:spPr/>
        <p:txBody>
          <a:bodyPr/>
          <a:lstStyle/>
          <a:p>
            <a:fld id="{6751D913-0D5D-4D23-8F9E-8787AE3E9EC8}" type="slidenum">
              <a:rPr lang="en-US" smtClean="0"/>
              <a:t>17</a:t>
            </a:fld>
            <a:endParaRPr lang="en-US"/>
          </a:p>
        </p:txBody>
      </p:sp>
    </p:spTree>
    <p:extLst>
      <p:ext uri="{BB962C8B-B14F-4D97-AF65-F5344CB8AC3E}">
        <p14:creationId xmlns:p14="http://schemas.microsoft.com/office/powerpoint/2010/main" val="18338220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confirm that these quadrant patterns are real and not just random variation, I used bootstrapping to estimate the average </a:t>
            </a:r>
            <a:r>
              <a:rPr lang="en-US" dirty="0" err="1"/>
              <a:t>SalesPerSqFt</a:t>
            </a:r>
            <a:r>
              <a:rPr lang="en-US" dirty="0"/>
              <a:t> for each group. (pause)</a:t>
            </a:r>
          </a:p>
          <a:p>
            <a:r>
              <a:rPr lang="en-US" dirty="0"/>
              <a:t>Bootstrapping is a resampling technique that tests whether the performance differences we see between store groups are real or just random noise.</a:t>
            </a:r>
          </a:p>
          <a:p>
            <a:r>
              <a:rPr lang="en-US" dirty="0"/>
              <a:t>We repeatedly resample the stores hundreds or thousands of times and estimate the average </a:t>
            </a:r>
            <a:r>
              <a:rPr lang="en-US" dirty="0" err="1"/>
              <a:t>SalesPerSqFt</a:t>
            </a:r>
            <a:r>
              <a:rPr lang="en-US" dirty="0"/>
              <a:t> for each quadrant each time.</a:t>
            </a:r>
            <a:br>
              <a:rPr lang="en-US" dirty="0"/>
            </a:br>
            <a:r>
              <a:rPr lang="en-US" dirty="0"/>
              <a:t>High-Spend, High-Traffic stores center around </a:t>
            </a:r>
            <a:r>
              <a:rPr lang="en-US" b="1" dirty="0"/>
              <a:t>$2,200 per square foot</a:t>
            </a:r>
            <a:r>
              <a:rPr lang="en-US" dirty="0"/>
              <a:t>, while Low-Spend, Low-Traffic stores average around </a:t>
            </a:r>
            <a:r>
              <a:rPr lang="en-US" b="1" dirty="0"/>
              <a:t>$900</a:t>
            </a:r>
            <a:r>
              <a:rPr lang="en-US" dirty="0"/>
              <a:t>.</a:t>
            </a:r>
            <a:br>
              <a:rPr lang="en-US" dirty="0"/>
            </a:br>
            <a:r>
              <a:rPr lang="en-US" dirty="0"/>
              <a:t>And importantly, the confidence intervals for these distributions do not overlap. (pause)</a:t>
            </a:r>
            <a:br>
              <a:rPr lang="en-US" dirty="0"/>
            </a:br>
            <a:r>
              <a:rPr lang="en-US" dirty="0"/>
              <a:t>That means the performance gap between these two groups is statistically meaningful, these are real structural differences in how stores operate, not noise in the data.”</a:t>
            </a:r>
          </a:p>
          <a:p>
            <a:endParaRPr lang="en-US" dirty="0"/>
          </a:p>
        </p:txBody>
      </p:sp>
      <p:sp>
        <p:nvSpPr>
          <p:cNvPr id="4" name="Slide Number Placeholder 3"/>
          <p:cNvSpPr>
            <a:spLocks noGrp="1"/>
          </p:cNvSpPr>
          <p:nvPr>
            <p:ph type="sldNum" sz="quarter" idx="5"/>
          </p:nvPr>
        </p:nvSpPr>
        <p:spPr/>
        <p:txBody>
          <a:bodyPr/>
          <a:lstStyle/>
          <a:p>
            <a:fld id="{6751D913-0D5D-4D23-8F9E-8787AE3E9EC8}" type="slidenum">
              <a:rPr lang="en-US" smtClean="0"/>
              <a:t>18</a:t>
            </a:fld>
            <a:endParaRPr lang="en-US"/>
          </a:p>
        </p:txBody>
      </p:sp>
    </p:spTree>
    <p:extLst>
      <p:ext uri="{BB962C8B-B14F-4D97-AF65-F5344CB8AC3E}">
        <p14:creationId xmlns:p14="http://schemas.microsoft.com/office/powerpoint/2010/main" val="1835942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D0D26-76E7-2EA9-5ABB-D9CCF3E4B3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1DE47F-212D-2B17-2EFA-F4B8930DA7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751B27-78DB-EA98-3092-5088B6415F06}"/>
              </a:ext>
            </a:extLst>
          </p:cNvPr>
          <p:cNvSpPr>
            <a:spLocks noGrp="1"/>
          </p:cNvSpPr>
          <p:nvPr>
            <p:ph type="body" idx="1"/>
          </p:nvPr>
        </p:nvSpPr>
        <p:spPr/>
        <p:txBody>
          <a:bodyPr/>
          <a:lstStyle/>
          <a:p>
            <a:r>
              <a:rPr lang="en-US" dirty="0"/>
              <a:t>“I’d like to share the key insights from this analysis. (pause)</a:t>
            </a:r>
            <a:br>
              <a:rPr lang="en-US" dirty="0"/>
            </a:br>
            <a:r>
              <a:rPr lang="en-US" dirty="0"/>
              <a:t>First, </a:t>
            </a:r>
            <a:r>
              <a:rPr lang="en-US" b="1" dirty="0"/>
              <a:t>traffic intensity is the single strongest driver of store performance</a:t>
            </a:r>
            <a:r>
              <a:rPr lang="en-US" dirty="0"/>
              <a:t>. (pause)</a:t>
            </a:r>
            <a:br>
              <a:rPr lang="en-US" dirty="0"/>
            </a:br>
            <a:r>
              <a:rPr lang="en-US" dirty="0"/>
              <a:t>Second, </a:t>
            </a:r>
            <a:r>
              <a:rPr lang="en-US" b="1" dirty="0"/>
              <a:t>basket density and category mix explain how effectively a store converts its traffic into revenue.</a:t>
            </a:r>
            <a:r>
              <a:rPr lang="en-US" dirty="0"/>
              <a:t> </a:t>
            </a:r>
            <a:br>
              <a:rPr lang="en-US" dirty="0"/>
            </a:br>
            <a:r>
              <a:rPr lang="en-US" dirty="0"/>
              <a:t>Third, </a:t>
            </a:r>
            <a:r>
              <a:rPr lang="en-US" b="1" dirty="0"/>
              <a:t>demographics contribute almost nothing</a:t>
            </a:r>
            <a:r>
              <a:rPr lang="en-US" dirty="0"/>
              <a:t> in this dataset. </a:t>
            </a:r>
          </a:p>
          <a:p>
            <a:r>
              <a:rPr lang="en-US" dirty="0"/>
              <a:t>Fourth, the </a:t>
            </a:r>
            <a:r>
              <a:rPr lang="en-US" b="1" dirty="0"/>
              <a:t>quadrant analysis reveals stable structural patterns, </a:t>
            </a:r>
            <a:r>
              <a:rPr lang="en-US" dirty="0"/>
              <a:t>showing which stores have strong demand, strong buyers, or weaknesses in both.</a:t>
            </a:r>
            <a:br>
              <a:rPr lang="en-US" dirty="0"/>
            </a:br>
            <a:r>
              <a:rPr lang="en-US" dirty="0"/>
              <a:t>Fifth, the </a:t>
            </a:r>
            <a:r>
              <a:rPr lang="en-US" b="1" dirty="0"/>
              <a:t>OLS residuals expose hidden underperformance</a:t>
            </a:r>
            <a:r>
              <a:rPr lang="en-US" dirty="0"/>
              <a:t>, especially in high-revenue stores that look strong on the surface but fall below their modeled potential.</a:t>
            </a:r>
            <a:br>
              <a:rPr lang="en-US" dirty="0"/>
            </a:br>
            <a:r>
              <a:rPr lang="en-US" dirty="0"/>
              <a:t>And finally, </a:t>
            </a:r>
            <a:r>
              <a:rPr lang="en-US" b="1" dirty="0"/>
              <a:t>bootstrapping confirms that these performance gaps are statistically real</a:t>
            </a:r>
            <a:r>
              <a:rPr lang="en-US" dirty="0"/>
              <a:t>, not random variation.</a:t>
            </a:r>
            <a:br>
              <a:rPr lang="en-US" dirty="0"/>
            </a:br>
            <a:endParaRPr lang="en-US" dirty="0"/>
          </a:p>
        </p:txBody>
      </p:sp>
      <p:sp>
        <p:nvSpPr>
          <p:cNvPr id="4" name="Slide Number Placeholder 3">
            <a:extLst>
              <a:ext uri="{FF2B5EF4-FFF2-40B4-BE49-F238E27FC236}">
                <a16:creationId xmlns:a16="http://schemas.microsoft.com/office/drawing/2014/main" id="{8826583A-7AB6-AB81-FCE3-19702AC45700}"/>
              </a:ext>
            </a:extLst>
          </p:cNvPr>
          <p:cNvSpPr>
            <a:spLocks noGrp="1"/>
          </p:cNvSpPr>
          <p:nvPr>
            <p:ph type="sldNum" sz="quarter" idx="5"/>
          </p:nvPr>
        </p:nvSpPr>
        <p:spPr/>
        <p:txBody>
          <a:bodyPr/>
          <a:lstStyle/>
          <a:p>
            <a:fld id="{22289C57-55D7-40A4-A101-E74FAC7A092B}" type="slidenum">
              <a:rPr lang="en-US" smtClean="0"/>
              <a:t>19</a:t>
            </a:fld>
            <a:endParaRPr lang="en-US" dirty="0"/>
          </a:p>
        </p:txBody>
      </p:sp>
    </p:spTree>
    <p:extLst>
      <p:ext uri="{BB962C8B-B14F-4D97-AF65-F5344CB8AC3E}">
        <p14:creationId xmlns:p14="http://schemas.microsoft.com/office/powerpoint/2010/main" val="22681732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1BA16-43BE-B4A1-C472-4A3647688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F682D5-0732-E86C-B32D-7CEC94C772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B5AD8B-9290-E1C0-E515-5D2FE76C9DA2}"/>
              </a:ext>
            </a:extLst>
          </p:cNvPr>
          <p:cNvSpPr>
            <a:spLocks noGrp="1"/>
          </p:cNvSpPr>
          <p:nvPr>
            <p:ph type="body" idx="1"/>
          </p:nvPr>
        </p:nvSpPr>
        <p:spPr/>
        <p:txBody>
          <a:bodyPr/>
          <a:lstStyle/>
          <a:p>
            <a:r>
              <a:rPr lang="en-US" dirty="0"/>
              <a:t>“My recommendations follow directly from the performance patterns revealed in the analysis.</a:t>
            </a:r>
            <a:br>
              <a:rPr lang="en-US" dirty="0"/>
            </a:br>
            <a:r>
              <a:rPr lang="en-US" dirty="0"/>
              <a:t>I focus first on the two strongest operational levers: </a:t>
            </a:r>
            <a:r>
              <a:rPr lang="en-US" b="1" dirty="0"/>
              <a:t>traffic</a:t>
            </a:r>
            <a:r>
              <a:rPr lang="en-US" dirty="0"/>
              <a:t> and </a:t>
            </a:r>
            <a:r>
              <a:rPr lang="en-US" b="1" dirty="0"/>
              <a:t>basket value</a:t>
            </a:r>
            <a:r>
              <a:rPr lang="en-US" dirty="0"/>
              <a:t>.</a:t>
            </a:r>
            <a:br>
              <a:rPr lang="en-US" dirty="0"/>
            </a:br>
            <a:r>
              <a:rPr lang="en-US" dirty="0"/>
              <a:t>Where traffic is weak, the priority is bringing more customers through the door. Where basket value is low, the focus shifts to improving mix, facings, and promotion strategy. (pause)</a:t>
            </a:r>
            <a:br>
              <a:rPr lang="en-US" dirty="0"/>
            </a:br>
            <a:r>
              <a:rPr lang="en-US" dirty="0"/>
              <a:t>Each store’s quadrant position makes these decisions straightforward, it identifies the lever with the highest expected return.</a:t>
            </a:r>
          </a:p>
          <a:p>
            <a:r>
              <a:rPr lang="en-US" dirty="0"/>
              <a:t>I also recommend tightening </a:t>
            </a:r>
            <a:r>
              <a:rPr lang="en-US" b="1" dirty="0"/>
              <a:t>store-level replenishment</a:t>
            </a:r>
            <a:r>
              <a:rPr lang="en-US" dirty="0"/>
              <a:t> and reducing </a:t>
            </a:r>
            <a:r>
              <a:rPr lang="en-US" b="1" dirty="0"/>
              <a:t>long-tail SKU clutter</a:t>
            </a:r>
            <a:r>
              <a:rPr lang="en-US" dirty="0"/>
              <a:t>. (pause)</a:t>
            </a:r>
            <a:br>
              <a:rPr lang="en-US" dirty="0"/>
            </a:br>
            <a:r>
              <a:rPr lang="en-US" dirty="0"/>
              <a:t>Promotions and advertising should be </a:t>
            </a:r>
            <a:r>
              <a:rPr lang="en-US" b="1" dirty="0"/>
              <a:t>matched to quadrant type, </a:t>
            </a:r>
            <a:r>
              <a:rPr lang="en-US" dirty="0"/>
              <a:t>high-traffic stores respond to premium mix and trade-up strategies, while low-traffic stores need traffic-building campaigns and localized outreach.</a:t>
            </a:r>
          </a:p>
        </p:txBody>
      </p:sp>
      <p:sp>
        <p:nvSpPr>
          <p:cNvPr id="4" name="Slide Number Placeholder 3">
            <a:extLst>
              <a:ext uri="{FF2B5EF4-FFF2-40B4-BE49-F238E27FC236}">
                <a16:creationId xmlns:a16="http://schemas.microsoft.com/office/drawing/2014/main" id="{66113438-EA01-C049-D438-C4345E387864}"/>
              </a:ext>
            </a:extLst>
          </p:cNvPr>
          <p:cNvSpPr>
            <a:spLocks noGrp="1"/>
          </p:cNvSpPr>
          <p:nvPr>
            <p:ph type="sldNum" sz="quarter" idx="5"/>
          </p:nvPr>
        </p:nvSpPr>
        <p:spPr/>
        <p:txBody>
          <a:bodyPr/>
          <a:lstStyle/>
          <a:p>
            <a:fld id="{22289C57-55D7-40A4-A101-E74FAC7A092B}" type="slidenum">
              <a:rPr lang="en-US" smtClean="0"/>
              <a:t>20</a:t>
            </a:fld>
            <a:endParaRPr lang="en-US" dirty="0"/>
          </a:p>
        </p:txBody>
      </p:sp>
    </p:spTree>
    <p:extLst>
      <p:ext uri="{BB962C8B-B14F-4D97-AF65-F5344CB8AC3E}">
        <p14:creationId xmlns:p14="http://schemas.microsoft.com/office/powerpoint/2010/main" val="11328620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B2642-2BBF-5296-7FC1-831E241FC5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DC4893-D9A2-1BCB-B54A-7581AF1C84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A600AF-6E24-95BD-3236-79E11DB0F282}"/>
              </a:ext>
            </a:extLst>
          </p:cNvPr>
          <p:cNvSpPr>
            <a:spLocks noGrp="1"/>
          </p:cNvSpPr>
          <p:nvPr>
            <p:ph type="body" idx="1"/>
          </p:nvPr>
        </p:nvSpPr>
        <p:spPr/>
        <p:txBody>
          <a:bodyPr/>
          <a:lstStyle/>
          <a:p>
            <a:r>
              <a:rPr lang="en-US" dirty="0"/>
              <a:t>Special Thanks to</a:t>
            </a:r>
          </a:p>
        </p:txBody>
      </p:sp>
      <p:sp>
        <p:nvSpPr>
          <p:cNvPr id="4" name="Slide Number Placeholder 3">
            <a:extLst>
              <a:ext uri="{FF2B5EF4-FFF2-40B4-BE49-F238E27FC236}">
                <a16:creationId xmlns:a16="http://schemas.microsoft.com/office/drawing/2014/main" id="{1CC6EC73-659E-445A-C7B9-4BAEC687497F}"/>
              </a:ext>
            </a:extLst>
          </p:cNvPr>
          <p:cNvSpPr>
            <a:spLocks noGrp="1"/>
          </p:cNvSpPr>
          <p:nvPr>
            <p:ph type="sldNum" sz="quarter" idx="5"/>
          </p:nvPr>
        </p:nvSpPr>
        <p:spPr/>
        <p:txBody>
          <a:bodyPr/>
          <a:lstStyle/>
          <a:p>
            <a:fld id="{22289C57-55D7-40A4-A101-E74FAC7A092B}" type="slidenum">
              <a:rPr lang="en-US" smtClean="0"/>
              <a:t>21</a:t>
            </a:fld>
            <a:endParaRPr lang="en-US" dirty="0"/>
          </a:p>
        </p:txBody>
      </p:sp>
    </p:spTree>
    <p:extLst>
      <p:ext uri="{BB962C8B-B14F-4D97-AF65-F5344CB8AC3E}">
        <p14:creationId xmlns:p14="http://schemas.microsoft.com/office/powerpoint/2010/main" val="31713506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EE1E0-59DE-CA9E-4E82-E41CC5C73A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48B54A-CC5E-B1CD-C88F-251319A30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CD7B1E-7EF1-2045-6A1F-F0F12AE10F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3F3624-2CE2-846D-2782-D9728B13BC76}"/>
              </a:ext>
            </a:extLst>
          </p:cNvPr>
          <p:cNvSpPr>
            <a:spLocks noGrp="1"/>
          </p:cNvSpPr>
          <p:nvPr>
            <p:ph type="sldNum" sz="quarter" idx="5"/>
          </p:nvPr>
        </p:nvSpPr>
        <p:spPr/>
        <p:txBody>
          <a:bodyPr/>
          <a:lstStyle/>
          <a:p>
            <a:fld id="{22289C57-55D7-40A4-A101-E74FAC7A092B}" type="slidenum">
              <a:rPr lang="en-US" smtClean="0"/>
              <a:t>22</a:t>
            </a:fld>
            <a:endParaRPr lang="en-US" dirty="0"/>
          </a:p>
        </p:txBody>
      </p:sp>
    </p:spTree>
    <p:extLst>
      <p:ext uri="{BB962C8B-B14F-4D97-AF65-F5344CB8AC3E}">
        <p14:creationId xmlns:p14="http://schemas.microsoft.com/office/powerpoint/2010/main" val="585894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 operates under a unique dual mission: to protect public safety </a:t>
            </a:r>
            <a:r>
              <a:rPr lang="en-US" i="1" dirty="0"/>
              <a:t>and</a:t>
            </a:r>
            <a:r>
              <a:rPr lang="en-US" dirty="0"/>
              <a:t> to generate revenue for the county. (slow)</a:t>
            </a:r>
          </a:p>
          <a:p>
            <a:r>
              <a:rPr lang="en-US" dirty="0"/>
              <a:t>Even small improvements in store efficiency can create meaningful financial impact across the system. (pause)</a:t>
            </a:r>
          </a:p>
          <a:p>
            <a:r>
              <a:rPr lang="en-US" dirty="0"/>
              <a:t>To achieve that, it’s essential to understand </a:t>
            </a:r>
            <a:r>
              <a:rPr lang="en-US" i="1" dirty="0"/>
              <a:t>why</a:t>
            </a:r>
            <a:r>
              <a:rPr lang="en-US" dirty="0"/>
              <a:t> stores perform differently — whether the drivers are traffic, product mix, or basket behavior. These differences directly affect inventory planning, staffing, and assortment strategy.</a:t>
            </a:r>
            <a:br>
              <a:rPr lang="en-US" dirty="0"/>
            </a:br>
            <a:r>
              <a:rPr lang="en-US" dirty="0"/>
              <a:t>(pause)</a:t>
            </a:r>
          </a:p>
          <a:p>
            <a:r>
              <a:rPr lang="en-US" dirty="0"/>
              <a:t>The goal of my project wasn’t simply to make visualizations.</a:t>
            </a:r>
            <a:br>
              <a:rPr lang="en-US" dirty="0"/>
            </a:br>
            <a:r>
              <a:rPr lang="en-US" dirty="0"/>
              <a:t>It was to uncover the operational and behavioral reasons why certain stores consistently outperform expectations… and why others fall short of their potential.”</a:t>
            </a:r>
          </a:p>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23</a:t>
            </a:fld>
            <a:endParaRPr lang="en-US" dirty="0"/>
          </a:p>
        </p:txBody>
      </p:sp>
    </p:spTree>
    <p:extLst>
      <p:ext uri="{BB962C8B-B14F-4D97-AF65-F5344CB8AC3E}">
        <p14:creationId xmlns:p14="http://schemas.microsoft.com/office/powerpoint/2010/main" val="40404389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how </a:t>
            </a:r>
            <a:r>
              <a:rPr lang="en-US" i="1" dirty="0"/>
              <a:t>average total daily sales</a:t>
            </a:r>
            <a:r>
              <a:rPr lang="en-US" dirty="0"/>
              <a:t> differ across Holidays, Weekends, and Weekdays. (pause) Weekends consistently generate the highest revenue per day, followed by Holidays, while Weekdays are steadier and noticeably lower. (pause) What matters is the stability. this pattern repeats across fiscal years, which means ABS demand follows a very predictable weekly rhythm. (pause) That consistency gives us confidence that differences between stores are driven by store operations and customer behavior, not by randomness in the calendar.”</a:t>
            </a:r>
          </a:p>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24</a:t>
            </a:fld>
            <a:endParaRPr lang="en-US" dirty="0"/>
          </a:p>
        </p:txBody>
      </p:sp>
    </p:spTree>
    <p:extLst>
      <p:ext uri="{BB962C8B-B14F-4D97-AF65-F5344CB8AC3E}">
        <p14:creationId xmlns:p14="http://schemas.microsoft.com/office/powerpoint/2010/main" val="20903241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aligning each month by weekday, I can isolate the true weekly rhythm of customer behavior. (pause)</a:t>
            </a:r>
          </a:p>
          <a:p>
            <a:r>
              <a:rPr lang="en-US" dirty="0"/>
              <a:t>Across both fiscal years, the pattern is the same: sales rise sharply on Fridays and Saturdays, and they dip on Mondays and Tuesdays.</a:t>
            </a:r>
            <a:br>
              <a:rPr lang="en-US" dirty="0"/>
            </a:br>
            <a:r>
              <a:rPr lang="en-US" dirty="0"/>
              <a:t>This tells me ABS demand isn’t driven by specific calendar dates, </a:t>
            </a:r>
          </a:p>
        </p:txBody>
      </p:sp>
      <p:sp>
        <p:nvSpPr>
          <p:cNvPr id="4" name="Slide Number Placeholder 3"/>
          <p:cNvSpPr>
            <a:spLocks noGrp="1"/>
          </p:cNvSpPr>
          <p:nvPr>
            <p:ph type="sldNum" sz="quarter" idx="5"/>
          </p:nvPr>
        </p:nvSpPr>
        <p:spPr/>
        <p:txBody>
          <a:bodyPr/>
          <a:lstStyle/>
          <a:p>
            <a:fld id="{22289C57-55D7-40A4-A101-E74FAC7A092B}" type="slidenum">
              <a:rPr lang="en-US" smtClean="0"/>
              <a:t>25</a:t>
            </a:fld>
            <a:endParaRPr lang="en-US" dirty="0"/>
          </a:p>
        </p:txBody>
      </p:sp>
    </p:spTree>
    <p:extLst>
      <p:ext uri="{BB962C8B-B14F-4D97-AF65-F5344CB8AC3E}">
        <p14:creationId xmlns:p14="http://schemas.microsoft.com/office/powerpoint/2010/main" val="2843954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shows monthly total sales for FY23–24 and FY24–25. (pause)</a:t>
            </a:r>
          </a:p>
          <a:p>
            <a:r>
              <a:rPr lang="en-US" dirty="0"/>
              <a:t>Both years follow almost the exact same seasonal pattern: sales build through the fall, peak sharply in December, drop in January, and then climb gradually through the spring.</a:t>
            </a:r>
            <a:br>
              <a:rPr lang="en-US" dirty="0"/>
            </a:br>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26</a:t>
            </a:fld>
            <a:endParaRPr lang="en-US" dirty="0"/>
          </a:p>
        </p:txBody>
      </p:sp>
    </p:spTree>
    <p:extLst>
      <p:ext uri="{BB962C8B-B14F-4D97-AF65-F5344CB8AC3E}">
        <p14:creationId xmlns:p14="http://schemas.microsoft.com/office/powerpoint/2010/main" val="20661440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breakdown shows that tequila, vodka, bourbon, and scotch alone represent a massive share of system revenue.</a:t>
            </a:r>
          </a:p>
          <a:p>
            <a:r>
              <a:rPr lang="en-US" dirty="0"/>
              <a:t>This provides the backbone for category-level strategy.”</a:t>
            </a:r>
          </a:p>
          <a:p>
            <a:endParaRPr lang="en-US" dirty="0"/>
          </a:p>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27</a:t>
            </a:fld>
            <a:endParaRPr lang="en-US" dirty="0"/>
          </a:p>
        </p:txBody>
      </p:sp>
    </p:spTree>
    <p:extLst>
      <p:ext uri="{BB962C8B-B14F-4D97-AF65-F5344CB8AC3E}">
        <p14:creationId xmlns:p14="http://schemas.microsoft.com/office/powerpoint/2010/main" val="8409867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built around a few dominant pack sizes.</a:t>
            </a:r>
            <a:br>
              <a:rPr lang="en-US" dirty="0"/>
            </a:br>
            <a:r>
              <a:rPr lang="en-US" dirty="0"/>
              <a:t>For beer, most of the volume comes from 6-packs, 12-packs, and singles.</a:t>
            </a:r>
            <a:br>
              <a:rPr lang="en-US" dirty="0"/>
            </a:br>
            <a:r>
              <a:rPr lang="en-US" dirty="0"/>
              <a:t>For spirits and wine, the core formats are 750 mL, 1.75 L, and 50 mL minis. (pause)</a:t>
            </a:r>
          </a:p>
          <a:p>
            <a:r>
              <a:rPr lang="en-US" dirty="0"/>
              <a:t>Everything outside these formats contributes only marginally.</a:t>
            </a:r>
            <a:br>
              <a:rPr lang="en-US" dirty="0"/>
            </a:br>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28</a:t>
            </a:fld>
            <a:endParaRPr lang="en-US" dirty="0"/>
          </a:p>
        </p:txBody>
      </p:sp>
    </p:spTree>
    <p:extLst>
      <p:ext uri="{BB962C8B-B14F-4D97-AF65-F5344CB8AC3E}">
        <p14:creationId xmlns:p14="http://schemas.microsoft.com/office/powerpoint/2010/main" val="7026838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Transition</a:t>
            </a:r>
          </a:p>
          <a:p>
            <a:r>
              <a:rPr lang="en-US" dirty="0"/>
              <a:t>“To quantify performance expectations, I built statistical models.”</a:t>
            </a:r>
          </a:p>
          <a:p>
            <a:endParaRPr lang="en-US" dirty="0"/>
          </a:p>
          <a:p>
            <a:endParaRPr lang="en-US" dirty="0"/>
          </a:p>
          <a:p>
            <a:r>
              <a:rPr lang="en-US" dirty="0"/>
              <a:t>“To understand which factors remain important when we penalize correlated predictors, I tested an Elastic Net model. (pause) Elastic Net is useful in this dataset because category shares and basket metrics are correlated. But with only 27 stores, the penalty becomes strong very quickly. (pause) The result was very clear: the Elastic Net model shrinks almost every variable to zero except </a:t>
            </a:r>
            <a:r>
              <a:rPr lang="en-US" b="1" dirty="0"/>
              <a:t>traffic intensity</a:t>
            </a:r>
            <a:r>
              <a:rPr lang="en-US" dirty="0"/>
              <a:t>. (slow) In other words, when we use regularization, </a:t>
            </a:r>
            <a:r>
              <a:rPr lang="en-US" i="1" dirty="0"/>
              <a:t>traffic is the only predictor consistently strong enough to survive the penalty.</a:t>
            </a:r>
            <a:br>
              <a:rPr lang="en-US" dirty="0"/>
            </a:br>
            <a:r>
              <a:rPr lang="en-US" dirty="0"/>
              <a:t>(pause) This reinforces how dominant traffic is as a performance driver. But Elastic Net does not fit as well as the OLS model, so for interpretation and diagnostics, OLS remains the better choice.”</a:t>
            </a:r>
          </a:p>
        </p:txBody>
      </p:sp>
      <p:sp>
        <p:nvSpPr>
          <p:cNvPr id="4" name="Slide Number Placeholder 3"/>
          <p:cNvSpPr>
            <a:spLocks noGrp="1"/>
          </p:cNvSpPr>
          <p:nvPr>
            <p:ph type="sldNum" sz="quarter" idx="5"/>
          </p:nvPr>
        </p:nvSpPr>
        <p:spPr/>
        <p:txBody>
          <a:bodyPr/>
          <a:lstStyle/>
          <a:p>
            <a:fld id="{6751D913-0D5D-4D23-8F9E-8787AE3E9EC8}" type="slidenum">
              <a:rPr lang="en-US" smtClean="0"/>
              <a:t>29</a:t>
            </a:fld>
            <a:endParaRPr lang="en-US"/>
          </a:p>
        </p:txBody>
      </p:sp>
    </p:spTree>
    <p:extLst>
      <p:ext uri="{BB962C8B-B14F-4D97-AF65-F5344CB8AC3E}">
        <p14:creationId xmlns:p14="http://schemas.microsoft.com/office/powerpoint/2010/main" val="16834541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plot shows the distribution of residuals from the OLS model. (pause) Most stores cluster tightly around zero, which means their actual </a:t>
            </a:r>
            <a:r>
              <a:rPr lang="en-US" dirty="0" err="1"/>
              <a:t>SalesPerSqFt</a:t>
            </a:r>
            <a:r>
              <a:rPr lang="en-US" dirty="0"/>
              <a:t> is very close to what the model predicts once we account for size, traffic, basket behavior, and category mix. (pause) The small number of stores far to the left or far to the right represent meaningful deviations — true over-performance or under-performance relative to their expected potential. (pause) This confirms that the model is both stable and well-behaved. The residuals give us a clean way to identify stores that are truly outperforming or underperforming after leveling the playing field.”</a:t>
            </a:r>
            <a:br>
              <a:rPr lang="en-US" dirty="0"/>
            </a:br>
            <a:endParaRPr lang="en-US" dirty="0"/>
          </a:p>
        </p:txBody>
      </p:sp>
      <p:sp>
        <p:nvSpPr>
          <p:cNvPr id="4" name="Slide Number Placeholder 3"/>
          <p:cNvSpPr>
            <a:spLocks noGrp="1"/>
          </p:cNvSpPr>
          <p:nvPr>
            <p:ph type="sldNum" sz="quarter" idx="5"/>
          </p:nvPr>
        </p:nvSpPr>
        <p:spPr/>
        <p:txBody>
          <a:bodyPr/>
          <a:lstStyle/>
          <a:p>
            <a:fld id="{6751D913-0D5D-4D23-8F9E-8787AE3E9EC8}" type="slidenum">
              <a:rPr lang="en-US" smtClean="0"/>
              <a:t>30</a:t>
            </a:fld>
            <a:endParaRPr lang="en-US"/>
          </a:p>
        </p:txBody>
      </p:sp>
    </p:spTree>
    <p:extLst>
      <p:ext uri="{BB962C8B-B14F-4D97-AF65-F5344CB8AC3E}">
        <p14:creationId xmlns:p14="http://schemas.microsoft.com/office/powerpoint/2010/main" val="18447787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isolates true operational performance.</a:t>
            </a:r>
            <a:br>
              <a:rPr lang="en-US" dirty="0"/>
            </a:br>
            <a:r>
              <a:rPr lang="en-US" dirty="0"/>
              <a:t>Every point below the line is a store that delivers less than the model expects, even after accounting for traffic, basket behavior, and category mix.</a:t>
            </a:r>
            <a:br>
              <a:rPr lang="en-US" dirty="0"/>
            </a:br>
            <a:r>
              <a:rPr lang="en-US" dirty="0"/>
              <a:t>Every point above the line is outperforming relative to its fundamentals. (pause)</a:t>
            </a:r>
            <a:br>
              <a:rPr lang="en-US" dirty="0"/>
            </a:br>
            <a:r>
              <a:rPr lang="en-US" dirty="0"/>
              <a:t>What matters here is that underperformance shows up across the entire range of predicted sales — even among the system’s top sellers.</a:t>
            </a:r>
            <a:br>
              <a:rPr lang="en-US" dirty="0"/>
            </a:br>
            <a:r>
              <a:rPr lang="en-US" dirty="0"/>
              <a:t>High revenue does </a:t>
            </a:r>
            <a:r>
              <a:rPr lang="en-US" b="1" dirty="0"/>
              <a:t>not</a:t>
            </a:r>
            <a:r>
              <a:rPr lang="en-US" dirty="0"/>
              <a:t> guarantee high efficiency.</a:t>
            </a:r>
            <a:br>
              <a:rPr lang="en-US" dirty="0"/>
            </a:br>
            <a:r>
              <a:rPr lang="en-US" dirty="0"/>
              <a:t>This view exposes performance gaps that raw sales alone simply cannot reveal.”</a:t>
            </a:r>
          </a:p>
          <a:p>
            <a:endParaRPr lang="en-US" dirty="0"/>
          </a:p>
          <a:p>
            <a:endParaRPr lang="en-US" dirty="0"/>
          </a:p>
        </p:txBody>
      </p:sp>
      <p:sp>
        <p:nvSpPr>
          <p:cNvPr id="4" name="Slide Number Placeholder 3"/>
          <p:cNvSpPr>
            <a:spLocks noGrp="1"/>
          </p:cNvSpPr>
          <p:nvPr>
            <p:ph type="sldNum" sz="quarter" idx="5"/>
          </p:nvPr>
        </p:nvSpPr>
        <p:spPr/>
        <p:txBody>
          <a:bodyPr/>
          <a:lstStyle/>
          <a:p>
            <a:fld id="{6751D913-0D5D-4D23-8F9E-8787AE3E9EC8}" type="slidenum">
              <a:rPr lang="en-US" smtClean="0"/>
              <a:t>31</a:t>
            </a:fld>
            <a:endParaRPr lang="en-US"/>
          </a:p>
        </p:txBody>
      </p:sp>
    </p:spTree>
    <p:extLst>
      <p:ext uri="{BB962C8B-B14F-4D97-AF65-F5344CB8AC3E}">
        <p14:creationId xmlns:p14="http://schemas.microsoft.com/office/powerpoint/2010/main" val="14868420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97101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 id="2147483675" r:id="rId14"/>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551543" y="555842"/>
            <a:ext cx="6599418" cy="1386690"/>
          </a:xfrm>
        </p:spPr>
        <p:txBody>
          <a:bodyPr anchor="ctr"/>
          <a:lstStyle/>
          <a:p>
            <a:r>
              <a:rPr lang="en-US" b="1" dirty="0">
                <a:highlight>
                  <a:srgbClr val="FFFFFF"/>
                </a:highlight>
                <a:latin typeface="Calibri" panose="020F0502020204030204" pitchFamily="34" charset="0"/>
                <a:ea typeface="Calibri" panose="020F0502020204030204" pitchFamily="34" charset="0"/>
                <a:cs typeface="Calibri" panose="020F0502020204030204" pitchFamily="34" charset="0"/>
              </a:rPr>
              <a:t>ABS Store Performance Analysis</a:t>
            </a:r>
          </a:p>
        </p:txBody>
      </p:sp>
      <p:sp>
        <p:nvSpPr>
          <p:cNvPr id="3" name="Rectangle 2">
            <a:extLst>
              <a:ext uri="{FF2B5EF4-FFF2-40B4-BE49-F238E27FC236}">
                <a16:creationId xmlns:a16="http://schemas.microsoft.com/office/drawing/2014/main" id="{CD185F44-20CA-15E2-4976-AAD33E84BA55}"/>
              </a:ext>
            </a:extLst>
          </p:cNvPr>
          <p:cNvSpPr txBox="1">
            <a:spLocks noChangeArrowheads="1"/>
          </p:cNvSpPr>
          <p:nvPr/>
        </p:nvSpPr>
        <p:spPr bwMode="auto">
          <a:xfrm>
            <a:off x="998719" y="4956148"/>
            <a:ext cx="2397624" cy="1346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Arash Nateghian</a:t>
            </a: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Data 205</a:t>
            </a: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Prof. Perine</a:t>
            </a:r>
          </a:p>
        </p:txBody>
      </p:sp>
      <p:pic>
        <p:nvPicPr>
          <p:cNvPr id="4" name="Picture 2" descr="Montgomery County Alcohol Beverage Services - Wikipedia">
            <a:extLst>
              <a:ext uri="{FF2B5EF4-FFF2-40B4-BE49-F238E27FC236}">
                <a16:creationId xmlns:a16="http://schemas.microsoft.com/office/drawing/2014/main" id="{0892521C-C16A-8456-3BDE-5003594106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9534" y="3148029"/>
            <a:ext cx="3208891" cy="128355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User Rights - Montgomery County, MD">
            <a:extLst>
              <a:ext uri="{FF2B5EF4-FFF2-40B4-BE49-F238E27FC236}">
                <a16:creationId xmlns:a16="http://schemas.microsoft.com/office/drawing/2014/main" id="{732027D9-16B2-577B-618D-4F0BA7302E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89565" y="362939"/>
            <a:ext cx="2308860" cy="230886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a:extLst>
              <a:ext uri="{FF2B5EF4-FFF2-40B4-BE49-F238E27FC236}">
                <a16:creationId xmlns:a16="http://schemas.microsoft.com/office/drawing/2014/main" id="{DCAF3B1B-9C98-87A8-4ACE-72B9101340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63952" y="5203852"/>
            <a:ext cx="5234473" cy="850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8DBD1-DB29-D44F-FD5A-3071BB37EF37}"/>
              </a:ext>
            </a:extLst>
          </p:cNvPr>
          <p:cNvSpPr>
            <a:spLocks noGrp="1"/>
          </p:cNvSpPr>
          <p:nvPr>
            <p:ph type="ctrTitle"/>
          </p:nvPr>
        </p:nvSpPr>
        <p:spPr>
          <a:xfrm>
            <a:off x="4640033" y="359229"/>
            <a:ext cx="5663293" cy="1284457"/>
          </a:xfrm>
        </p:spPr>
        <p:txBody>
          <a:bodyPr/>
          <a:lstStyle/>
          <a:p>
            <a:r>
              <a:rPr lang="en-US" b="1" dirty="0"/>
              <a:t>Data Overview &amp; Cleaning Strategy</a:t>
            </a:r>
            <a:endParaRPr lang="en-US" dirty="0"/>
          </a:p>
        </p:txBody>
      </p:sp>
      <p:sp>
        <p:nvSpPr>
          <p:cNvPr id="3" name="Rectangle 2">
            <a:extLst>
              <a:ext uri="{FF2B5EF4-FFF2-40B4-BE49-F238E27FC236}">
                <a16:creationId xmlns:a16="http://schemas.microsoft.com/office/drawing/2014/main" id="{84AB943A-C424-208C-A365-17AEE73D375D}"/>
              </a:ext>
            </a:extLst>
          </p:cNvPr>
          <p:cNvSpPr txBox="1">
            <a:spLocks noChangeArrowheads="1"/>
          </p:cNvSpPr>
          <p:nvPr/>
        </p:nvSpPr>
        <p:spPr bwMode="auto">
          <a:xfrm>
            <a:off x="521621" y="4245429"/>
            <a:ext cx="1114875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Char char="•"/>
            </a:pPr>
            <a:r>
              <a:rPr lang="en-US" altLang="en-US" sz="3200" dirty="0">
                <a:latin typeface="Calibri" panose="020F0502020204030204" pitchFamily="34" charset="0"/>
                <a:ea typeface="Calibri" panose="020F0502020204030204" pitchFamily="34" charset="0"/>
                <a:cs typeface="Calibri" panose="020F0502020204030204" pitchFamily="34" charset="0"/>
              </a:rPr>
              <a:t>3 datasets: transactions, designation, demographics</a:t>
            </a:r>
          </a:p>
          <a:p>
            <a:pPr marL="0" indent="0" eaLnBrk="0" fontAlgn="base" hangingPunct="0">
              <a:lnSpc>
                <a:spcPct val="100000"/>
              </a:lnSpc>
              <a:spcBef>
                <a:spcPct val="0"/>
              </a:spcBef>
              <a:spcAft>
                <a:spcPct val="0"/>
              </a:spcAft>
              <a:buFontTx/>
              <a:buChar char="•"/>
            </a:pPr>
            <a:r>
              <a:rPr lang="en-US" altLang="en-US" sz="3200" dirty="0">
                <a:latin typeface="Calibri" panose="020F0502020204030204" pitchFamily="34" charset="0"/>
                <a:ea typeface="Calibri" panose="020F0502020204030204" pitchFamily="34" charset="0"/>
                <a:cs typeface="Calibri" panose="020F0502020204030204" pitchFamily="34" charset="0"/>
              </a:rPr>
              <a:t>Major cleaning: normalize store names, pack sizes, remove noise</a:t>
            </a:r>
          </a:p>
          <a:p>
            <a:pPr marL="0" indent="0" eaLnBrk="0" fontAlgn="base" hangingPunct="0">
              <a:lnSpc>
                <a:spcPct val="100000"/>
              </a:lnSpc>
              <a:spcBef>
                <a:spcPct val="0"/>
              </a:spcBef>
              <a:spcAft>
                <a:spcPct val="0"/>
              </a:spcAft>
              <a:buFontTx/>
              <a:buChar char="•"/>
            </a:pPr>
            <a:r>
              <a:rPr lang="en-US" altLang="en-US" sz="3200" dirty="0">
                <a:latin typeface="Calibri" panose="020F0502020204030204" pitchFamily="34" charset="0"/>
                <a:ea typeface="Calibri" panose="020F0502020204030204" pitchFamily="34" charset="0"/>
                <a:cs typeface="Calibri" panose="020F0502020204030204" pitchFamily="34" charset="0"/>
              </a:rPr>
              <a:t>Result: analytics-ready dataset</a:t>
            </a:r>
          </a:p>
        </p:txBody>
      </p:sp>
    </p:spTree>
    <p:extLst>
      <p:ext uri="{BB962C8B-B14F-4D97-AF65-F5344CB8AC3E}">
        <p14:creationId xmlns:p14="http://schemas.microsoft.com/office/powerpoint/2010/main" val="608796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F44A959-C2BB-9170-C99C-1A2EDB71B994}"/>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3</a:t>
            </a:fld>
            <a:endParaRPr lang="en-US" dirty="0"/>
          </a:p>
        </p:txBody>
      </p:sp>
      <p:pic>
        <p:nvPicPr>
          <p:cNvPr id="16" name="Picture 15">
            <a:extLst>
              <a:ext uri="{FF2B5EF4-FFF2-40B4-BE49-F238E27FC236}">
                <a16:creationId xmlns:a16="http://schemas.microsoft.com/office/drawing/2014/main" id="{CE871E73-CF3C-7D50-CDD3-D6133658EB38}"/>
              </a:ext>
            </a:extLst>
          </p:cNvPr>
          <p:cNvPicPr>
            <a:picLocks noChangeAspect="1"/>
          </p:cNvPicPr>
          <p:nvPr/>
        </p:nvPicPr>
        <p:blipFill>
          <a:blip r:embed="rId3"/>
          <a:stretch>
            <a:fillRect/>
          </a:stretch>
        </p:blipFill>
        <p:spPr>
          <a:xfrm>
            <a:off x="4544054" y="136526"/>
            <a:ext cx="7473797" cy="5338426"/>
          </a:xfrm>
          <a:prstGeom prst="rect">
            <a:avLst/>
          </a:prstGeom>
        </p:spPr>
      </p:pic>
      <p:sp>
        <p:nvSpPr>
          <p:cNvPr id="17" name="Rectangle 1">
            <a:extLst>
              <a:ext uri="{FF2B5EF4-FFF2-40B4-BE49-F238E27FC236}">
                <a16:creationId xmlns:a16="http://schemas.microsoft.com/office/drawing/2014/main" id="{182BDDBB-09FC-492C-4BAB-6E3897D7688B}"/>
              </a:ext>
            </a:extLst>
          </p:cNvPr>
          <p:cNvSpPr>
            <a:spLocks noChangeArrowheads="1"/>
          </p:cNvSpPr>
          <p:nvPr/>
        </p:nvSpPr>
        <p:spPr bwMode="auto">
          <a:xfrm>
            <a:off x="1408968" y="5644256"/>
            <a:ext cx="6270172"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High-revenue ≠ high efficiency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Montrose, Hampden Lane </a:t>
            </a:r>
          </a:p>
        </p:txBody>
      </p:sp>
    </p:spTree>
    <p:extLst>
      <p:ext uri="{BB962C8B-B14F-4D97-AF65-F5344CB8AC3E}">
        <p14:creationId xmlns:p14="http://schemas.microsoft.com/office/powerpoint/2010/main" val="103458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Slide Number Placeholder 67">
            <a:extLst>
              <a:ext uri="{FF2B5EF4-FFF2-40B4-BE49-F238E27FC236}">
                <a16:creationId xmlns:a16="http://schemas.microsoft.com/office/drawing/2014/main" id="{AA0ACADD-CC4E-851C-DA07-C22DB97FA23E}"/>
              </a:ext>
            </a:extLst>
          </p:cNvPr>
          <p:cNvSpPr>
            <a:spLocks noGrp="1"/>
          </p:cNvSpPr>
          <p:nvPr>
            <p:ph type="sldNum" sz="quarter" idx="13"/>
          </p:nvPr>
        </p:nvSpPr>
        <p:spPr>
          <a:xfrm>
            <a:off x="10373350" y="6356349"/>
            <a:ext cx="987552" cy="365125"/>
          </a:xfrm>
        </p:spPr>
        <p:txBody>
          <a:bodyPr/>
          <a:lstStyle/>
          <a:p>
            <a:fld id="{A49DFD55-3C28-40EF-9E31-A92D2E4017FF}" type="slidenum">
              <a:rPr lang="en-US" smtClean="0"/>
              <a:pPr/>
              <a:t>4</a:t>
            </a:fld>
            <a:endParaRPr lang="en-US" dirty="0"/>
          </a:p>
        </p:txBody>
      </p:sp>
      <p:pic>
        <p:nvPicPr>
          <p:cNvPr id="3" name="Picture 2">
            <a:extLst>
              <a:ext uri="{FF2B5EF4-FFF2-40B4-BE49-F238E27FC236}">
                <a16:creationId xmlns:a16="http://schemas.microsoft.com/office/drawing/2014/main" id="{86D2E652-062F-5FAA-0C03-C4FD58F26D85}"/>
              </a:ext>
            </a:extLst>
          </p:cNvPr>
          <p:cNvPicPr>
            <a:picLocks noChangeAspect="1"/>
          </p:cNvPicPr>
          <p:nvPr/>
        </p:nvPicPr>
        <p:blipFill>
          <a:blip r:embed="rId3"/>
          <a:stretch>
            <a:fillRect/>
          </a:stretch>
        </p:blipFill>
        <p:spPr>
          <a:xfrm>
            <a:off x="222900" y="325089"/>
            <a:ext cx="7803973" cy="5574266"/>
          </a:xfrm>
          <a:prstGeom prst="rect">
            <a:avLst/>
          </a:prstGeom>
        </p:spPr>
      </p:pic>
      <p:sp>
        <p:nvSpPr>
          <p:cNvPr id="18" name="TextBox 17">
            <a:extLst>
              <a:ext uri="{FF2B5EF4-FFF2-40B4-BE49-F238E27FC236}">
                <a16:creationId xmlns:a16="http://schemas.microsoft.com/office/drawing/2014/main" id="{18A1D39F-DC3C-D5E5-C62F-4CA177395AED}"/>
              </a:ext>
            </a:extLst>
          </p:cNvPr>
          <p:cNvSpPr txBox="1"/>
          <p:nvPr/>
        </p:nvSpPr>
        <p:spPr>
          <a:xfrm>
            <a:off x="8347587" y="5010212"/>
            <a:ext cx="4640826" cy="1384995"/>
          </a:xfrm>
          <a:prstGeom prst="rect">
            <a:avLst/>
          </a:prstGeom>
          <a:noFill/>
        </p:spPr>
        <p:txBody>
          <a:bodyPr wrap="square">
            <a:spAutoFit/>
          </a:bodyPr>
          <a:lstStyle/>
          <a:p>
            <a:pPr>
              <a:buNone/>
            </a:pPr>
            <a:r>
              <a:rPr lang="en-US" sz="2800" dirty="0"/>
              <a:t>Liquor drives revenue</a:t>
            </a:r>
          </a:p>
          <a:p>
            <a:pPr>
              <a:buNone/>
            </a:pPr>
            <a:r>
              <a:rPr lang="en-US" sz="2800" dirty="0"/>
              <a:t>Beer = volume machine</a:t>
            </a:r>
          </a:p>
          <a:p>
            <a:pPr>
              <a:buNone/>
            </a:pPr>
            <a:r>
              <a:rPr lang="en-US" sz="2800" dirty="0"/>
              <a:t>Wine moderate</a:t>
            </a:r>
          </a:p>
        </p:txBody>
      </p:sp>
    </p:spTree>
    <p:extLst>
      <p:ext uri="{BB962C8B-B14F-4D97-AF65-F5344CB8AC3E}">
        <p14:creationId xmlns:p14="http://schemas.microsoft.com/office/powerpoint/2010/main" val="636929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C4B8313-9270-4128-8674-3A3E42B806BC}"/>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5</a:t>
            </a:fld>
            <a:endParaRPr lang="en-US" dirty="0"/>
          </a:p>
        </p:txBody>
      </p:sp>
      <p:cxnSp>
        <p:nvCxnSpPr>
          <p:cNvPr id="23" name="Straight Connector 22">
            <a:extLst>
              <a:ext uri="{FF2B5EF4-FFF2-40B4-BE49-F238E27FC236}">
                <a16:creationId xmlns:a16="http://schemas.microsoft.com/office/drawing/2014/main" id="{D87F08D6-2CA7-4A5A-BE34-07113DCA535D}"/>
              </a:ext>
              <a:ext uri="{C183D7F6-B498-43B3-948B-1728B52AA6E4}">
                <adec:decorative xmlns:adec="http://schemas.microsoft.com/office/drawing/2017/decorative" val="1"/>
              </a:ext>
            </a:extLst>
          </p:cNvPr>
          <p:cNvCxnSpPr>
            <a:cxnSpLocks/>
          </p:cNvCxnSpPr>
          <p:nvPr userDrawn="1"/>
        </p:nvCxnSpPr>
        <p:spPr>
          <a:xfrm flipH="1" flipV="1">
            <a:off x="0" y="876300"/>
            <a:ext cx="5246255" cy="17098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D24357AB-EC79-79EB-0EF6-048E718A4D2F}"/>
              </a:ext>
            </a:extLst>
          </p:cNvPr>
          <p:cNvSpPr>
            <a:spLocks noGrp="1"/>
          </p:cNvSpPr>
          <p:nvPr>
            <p:ph type="pic" sz="quarter" idx="13"/>
          </p:nvPr>
        </p:nvSpPr>
        <p:spPr>
          <a:xfrm>
            <a:off x="-1421814" y="-9144"/>
            <a:ext cx="2498272" cy="6876288"/>
          </a:xfrm>
          <a:solidFill>
            <a:srgbClr val="898989"/>
          </a:solidFill>
        </p:spPr>
        <p:txBody>
          <a:bodyPr/>
          <a:lstStyle/>
          <a:p>
            <a:endParaRPr lang="en-US"/>
          </a:p>
        </p:txBody>
      </p:sp>
      <p:pic>
        <p:nvPicPr>
          <p:cNvPr id="11" name="Picture 10">
            <a:extLst>
              <a:ext uri="{FF2B5EF4-FFF2-40B4-BE49-F238E27FC236}">
                <a16:creationId xmlns:a16="http://schemas.microsoft.com/office/drawing/2014/main" id="{716A5685-8681-B2F3-6E3E-BE42C5316C95}"/>
              </a:ext>
            </a:extLst>
          </p:cNvPr>
          <p:cNvPicPr>
            <a:picLocks noChangeAspect="1"/>
          </p:cNvPicPr>
          <p:nvPr/>
        </p:nvPicPr>
        <p:blipFill>
          <a:blip r:embed="rId3"/>
          <a:stretch>
            <a:fillRect/>
          </a:stretch>
        </p:blipFill>
        <p:spPr>
          <a:xfrm>
            <a:off x="589935" y="221706"/>
            <a:ext cx="5734005" cy="4095717"/>
          </a:xfrm>
          <a:prstGeom prst="rect">
            <a:avLst/>
          </a:prstGeom>
        </p:spPr>
      </p:pic>
      <p:pic>
        <p:nvPicPr>
          <p:cNvPr id="12" name="Picture 11">
            <a:extLst>
              <a:ext uri="{FF2B5EF4-FFF2-40B4-BE49-F238E27FC236}">
                <a16:creationId xmlns:a16="http://schemas.microsoft.com/office/drawing/2014/main" id="{46A027A7-6695-F641-D46D-1A042BBF133B}"/>
              </a:ext>
            </a:extLst>
          </p:cNvPr>
          <p:cNvPicPr>
            <a:picLocks noChangeAspect="1"/>
          </p:cNvPicPr>
          <p:nvPr/>
        </p:nvPicPr>
        <p:blipFill>
          <a:blip r:embed="rId4"/>
          <a:stretch>
            <a:fillRect/>
          </a:stretch>
        </p:blipFill>
        <p:spPr>
          <a:xfrm>
            <a:off x="6258122" y="296454"/>
            <a:ext cx="5629357" cy="4020969"/>
          </a:xfrm>
          <a:prstGeom prst="rect">
            <a:avLst/>
          </a:prstGeom>
        </p:spPr>
      </p:pic>
      <p:sp>
        <p:nvSpPr>
          <p:cNvPr id="13" name="TextBox 12">
            <a:extLst>
              <a:ext uri="{FF2B5EF4-FFF2-40B4-BE49-F238E27FC236}">
                <a16:creationId xmlns:a16="http://schemas.microsoft.com/office/drawing/2014/main" id="{FD8EFA61-475C-0979-20B1-F9AD6AB93CBD}"/>
              </a:ext>
            </a:extLst>
          </p:cNvPr>
          <p:cNvSpPr txBox="1"/>
          <p:nvPr/>
        </p:nvSpPr>
        <p:spPr>
          <a:xfrm>
            <a:off x="2450879" y="4574191"/>
            <a:ext cx="8768444" cy="2062103"/>
          </a:xfrm>
          <a:prstGeom prst="rect">
            <a:avLst/>
          </a:prstGeom>
          <a:noFill/>
        </p:spPr>
        <p:txBody>
          <a:bodyPr wrap="square">
            <a:spAutoFit/>
          </a:bodyPr>
          <a:lstStyle/>
          <a:p>
            <a:pPr marL="285750" indent="-28575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Strong right-skew with premium items</a:t>
            </a:r>
          </a:p>
          <a:p>
            <a:pPr marL="285750" indent="-28575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Liquor &amp; wine have widest price ranges</a:t>
            </a:r>
          </a:p>
          <a:p>
            <a:pPr marL="285750" indent="-28575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Beer &amp; </a:t>
            </a:r>
            <a:r>
              <a:rPr lang="en-US" sz="3200" dirty="0" err="1">
                <a:latin typeface="Calibri" panose="020F0502020204030204" pitchFamily="34" charset="0"/>
                <a:ea typeface="Calibri" panose="020F0502020204030204" pitchFamily="34" charset="0"/>
                <a:cs typeface="Calibri" panose="020F0502020204030204" pitchFamily="34" charset="0"/>
              </a:rPr>
              <a:t>misc</a:t>
            </a:r>
            <a:r>
              <a:rPr lang="en-US" sz="3200" dirty="0">
                <a:latin typeface="Calibri" panose="020F0502020204030204" pitchFamily="34" charset="0"/>
                <a:ea typeface="Calibri" panose="020F0502020204030204" pitchFamily="34" charset="0"/>
                <a:cs typeface="Calibri" panose="020F0502020204030204" pitchFamily="34" charset="0"/>
              </a:rPr>
              <a:t> cluster at lower prices</a:t>
            </a:r>
          </a:p>
          <a:p>
            <a:pPr marL="285750" indent="-28575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Premium pricing concentrated in spirits/wine</a:t>
            </a:r>
          </a:p>
        </p:txBody>
      </p:sp>
    </p:spTree>
    <p:extLst>
      <p:ext uri="{BB962C8B-B14F-4D97-AF65-F5344CB8AC3E}">
        <p14:creationId xmlns:p14="http://schemas.microsoft.com/office/powerpoint/2010/main" val="1742861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Placeholder 33">
            <a:extLst>
              <a:ext uri="{FF2B5EF4-FFF2-40B4-BE49-F238E27FC236}">
                <a16:creationId xmlns:a16="http://schemas.microsoft.com/office/drawing/2014/main" id="{AE07A905-8B37-D13F-25D3-1D3BCDB86B0B}"/>
              </a:ext>
            </a:extLst>
          </p:cNvPr>
          <p:cNvSpPr>
            <a:spLocks noGrp="1"/>
          </p:cNvSpPr>
          <p:nvPr>
            <p:ph type="body" sz="quarter" idx="3"/>
          </p:nvPr>
        </p:nvSpPr>
        <p:spPr>
          <a:xfrm>
            <a:off x="7887108" y="2705177"/>
            <a:ext cx="3943627" cy="448989"/>
          </a:xfrm>
        </p:spPr>
        <p:txBody>
          <a:bodyPr/>
          <a:lstStyle/>
          <a:p>
            <a:r>
              <a:rPr lang="en-US" dirty="0"/>
              <a:t>Continue improving</a:t>
            </a:r>
          </a:p>
        </p:txBody>
      </p:sp>
      <p:sp>
        <p:nvSpPr>
          <p:cNvPr id="35" name="Content Placeholder 34">
            <a:extLst>
              <a:ext uri="{FF2B5EF4-FFF2-40B4-BE49-F238E27FC236}">
                <a16:creationId xmlns:a16="http://schemas.microsoft.com/office/drawing/2014/main" id="{4E9A764F-6B65-050E-E561-82F77339D164}"/>
              </a:ext>
            </a:extLst>
          </p:cNvPr>
          <p:cNvSpPr>
            <a:spLocks noGrp="1"/>
          </p:cNvSpPr>
          <p:nvPr>
            <p:ph sz="half" idx="14"/>
          </p:nvPr>
        </p:nvSpPr>
        <p:spPr>
          <a:xfrm>
            <a:off x="7887107" y="3164867"/>
            <a:ext cx="3943627" cy="3032733"/>
          </a:xfrm>
        </p:spPr>
        <p:txBody>
          <a:bodyPr>
            <a:normAutofit/>
          </a:bodyPr>
          <a:lstStyle/>
          <a:p>
            <a:r>
              <a:rPr lang="en-US" dirty="0"/>
              <a:t>Seek feedback</a:t>
            </a:r>
          </a:p>
          <a:p>
            <a:r>
              <a:rPr lang="en-US" dirty="0"/>
              <a:t>Reflect on performance</a:t>
            </a:r>
          </a:p>
          <a:p>
            <a:r>
              <a:rPr lang="en-US" dirty="0"/>
              <a:t>Explore new techniques</a:t>
            </a:r>
          </a:p>
          <a:p>
            <a:r>
              <a:rPr lang="en-US" dirty="0"/>
              <a:t>Set personal goals</a:t>
            </a:r>
          </a:p>
          <a:p>
            <a:r>
              <a:rPr lang="en-US" dirty="0"/>
              <a:t>Iterate and adapt</a:t>
            </a:r>
          </a:p>
        </p:txBody>
      </p:sp>
      <p:sp>
        <p:nvSpPr>
          <p:cNvPr id="9" name="Slide Number Placeholder 8">
            <a:extLst>
              <a:ext uri="{FF2B5EF4-FFF2-40B4-BE49-F238E27FC236}">
                <a16:creationId xmlns:a16="http://schemas.microsoft.com/office/drawing/2014/main" id="{C396FFDC-ADE8-4009-A466-A81787258E8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6</a:t>
            </a:fld>
            <a:endParaRPr lang="en-US" dirty="0"/>
          </a:p>
        </p:txBody>
      </p:sp>
      <p:pic>
        <p:nvPicPr>
          <p:cNvPr id="2" name="Picture 1">
            <a:extLst>
              <a:ext uri="{FF2B5EF4-FFF2-40B4-BE49-F238E27FC236}">
                <a16:creationId xmlns:a16="http://schemas.microsoft.com/office/drawing/2014/main" id="{FACFDE57-1CD1-8352-320C-E61FF543DBB4}"/>
              </a:ext>
            </a:extLst>
          </p:cNvPr>
          <p:cNvPicPr>
            <a:picLocks noChangeAspect="1"/>
          </p:cNvPicPr>
          <p:nvPr/>
        </p:nvPicPr>
        <p:blipFill>
          <a:blip r:embed="rId3"/>
          <a:stretch>
            <a:fillRect/>
          </a:stretch>
        </p:blipFill>
        <p:spPr>
          <a:xfrm>
            <a:off x="4793614" y="1254351"/>
            <a:ext cx="7398386" cy="5284561"/>
          </a:xfrm>
          <a:prstGeom prst="rect">
            <a:avLst/>
          </a:prstGeom>
        </p:spPr>
      </p:pic>
      <p:sp>
        <p:nvSpPr>
          <p:cNvPr id="11" name="TextBox 10">
            <a:extLst>
              <a:ext uri="{FF2B5EF4-FFF2-40B4-BE49-F238E27FC236}">
                <a16:creationId xmlns:a16="http://schemas.microsoft.com/office/drawing/2014/main" id="{81F90E6C-DB52-49A3-F639-259E83CE22C1}"/>
              </a:ext>
            </a:extLst>
          </p:cNvPr>
          <p:cNvSpPr txBox="1"/>
          <p:nvPr/>
        </p:nvSpPr>
        <p:spPr>
          <a:xfrm>
            <a:off x="293866" y="505979"/>
            <a:ext cx="4963910" cy="1569660"/>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Small bottles, beer packs</a:t>
            </a:r>
          </a:p>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Drives foot traffic</a:t>
            </a:r>
          </a:p>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Low individual revenue</a:t>
            </a:r>
          </a:p>
        </p:txBody>
      </p:sp>
    </p:spTree>
    <p:extLst>
      <p:ext uri="{BB962C8B-B14F-4D97-AF65-F5344CB8AC3E}">
        <p14:creationId xmlns:p14="http://schemas.microsoft.com/office/powerpoint/2010/main" val="2403577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4832B776-E386-1CF9-CC8F-2D2FF3EA7066}"/>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7</a:t>
            </a:fld>
            <a:endParaRPr lang="en-US" dirty="0"/>
          </a:p>
        </p:txBody>
      </p:sp>
      <p:pic>
        <p:nvPicPr>
          <p:cNvPr id="7" name="Picture 6">
            <a:extLst>
              <a:ext uri="{FF2B5EF4-FFF2-40B4-BE49-F238E27FC236}">
                <a16:creationId xmlns:a16="http://schemas.microsoft.com/office/drawing/2014/main" id="{1C155228-A703-D700-46F7-6693A693DDF4}"/>
              </a:ext>
            </a:extLst>
          </p:cNvPr>
          <p:cNvPicPr>
            <a:picLocks noChangeAspect="1"/>
          </p:cNvPicPr>
          <p:nvPr/>
        </p:nvPicPr>
        <p:blipFill>
          <a:blip r:embed="rId3"/>
          <a:stretch>
            <a:fillRect/>
          </a:stretch>
        </p:blipFill>
        <p:spPr>
          <a:xfrm>
            <a:off x="4777764" y="136526"/>
            <a:ext cx="7142117" cy="5101512"/>
          </a:xfrm>
          <a:prstGeom prst="rect">
            <a:avLst/>
          </a:prstGeom>
        </p:spPr>
      </p:pic>
      <p:sp>
        <p:nvSpPr>
          <p:cNvPr id="9" name="TextBox 8">
            <a:extLst>
              <a:ext uri="{FF2B5EF4-FFF2-40B4-BE49-F238E27FC236}">
                <a16:creationId xmlns:a16="http://schemas.microsoft.com/office/drawing/2014/main" id="{0F3EEF8E-2398-9BA7-97E4-65646A01403B}"/>
              </a:ext>
            </a:extLst>
          </p:cNvPr>
          <p:cNvSpPr txBox="1"/>
          <p:nvPr/>
        </p:nvSpPr>
        <p:spPr>
          <a:xfrm>
            <a:off x="352696" y="5151814"/>
            <a:ext cx="7142117" cy="1569660"/>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Premium spirits dominate</a:t>
            </a:r>
          </a:p>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Big impact on revenue</a:t>
            </a:r>
          </a:p>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Fewer SKUs drive most dollars</a:t>
            </a:r>
          </a:p>
        </p:txBody>
      </p:sp>
    </p:spTree>
    <p:extLst>
      <p:ext uri="{BB962C8B-B14F-4D97-AF65-F5344CB8AC3E}">
        <p14:creationId xmlns:p14="http://schemas.microsoft.com/office/powerpoint/2010/main" val="2791821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47A6C93-C96E-C213-C4BF-D56C706696C6}"/>
              </a:ext>
            </a:extLst>
          </p:cNvPr>
          <p:cNvSpPr txBox="1"/>
          <p:nvPr/>
        </p:nvSpPr>
        <p:spPr>
          <a:xfrm>
            <a:off x="152400" y="5068854"/>
            <a:ext cx="5717458" cy="1569660"/>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Weak correlation</a:t>
            </a:r>
          </a:p>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Bigger store ≠ better store</a:t>
            </a:r>
          </a:p>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Correlation = 0.2813958</a:t>
            </a:r>
          </a:p>
        </p:txBody>
      </p:sp>
      <p:pic>
        <p:nvPicPr>
          <p:cNvPr id="9" name="Picture 8">
            <a:extLst>
              <a:ext uri="{FF2B5EF4-FFF2-40B4-BE49-F238E27FC236}">
                <a16:creationId xmlns:a16="http://schemas.microsoft.com/office/drawing/2014/main" id="{44C91636-AF52-B49E-6F46-2D9AD18B7438}"/>
              </a:ext>
            </a:extLst>
          </p:cNvPr>
          <p:cNvPicPr>
            <a:picLocks noChangeAspect="1"/>
          </p:cNvPicPr>
          <p:nvPr/>
        </p:nvPicPr>
        <p:blipFill>
          <a:blip r:embed="rId3"/>
          <a:stretch>
            <a:fillRect/>
          </a:stretch>
        </p:blipFill>
        <p:spPr>
          <a:xfrm>
            <a:off x="4366017" y="277745"/>
            <a:ext cx="7044344" cy="503167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1138587" y="2977330"/>
            <a:ext cx="3902660" cy="1143000"/>
          </a:xfrm>
        </p:spPr>
        <p:txBody>
          <a:bodyPr>
            <a:normAutofit fontScale="90000"/>
          </a:bodyPr>
          <a:lstStyle/>
          <a:p>
            <a:pPr algn="ctr"/>
            <a:r>
              <a:rPr lang="en-US" dirty="0"/>
              <a:t>Demographics vs Sales</a:t>
            </a:r>
            <a:endParaRPr dirty="0"/>
          </a:p>
        </p:txBody>
      </p:sp>
      <p:pic>
        <p:nvPicPr>
          <p:cNvPr id="15" name="Picture 14">
            <a:extLst>
              <a:ext uri="{FF2B5EF4-FFF2-40B4-BE49-F238E27FC236}">
                <a16:creationId xmlns:a16="http://schemas.microsoft.com/office/drawing/2014/main" id="{8635F3FC-C843-22DF-EE63-9A5369C2DD78}"/>
              </a:ext>
            </a:extLst>
          </p:cNvPr>
          <p:cNvPicPr>
            <a:picLocks noChangeAspect="1"/>
          </p:cNvPicPr>
          <p:nvPr/>
        </p:nvPicPr>
        <p:blipFill>
          <a:blip r:embed="rId3"/>
          <a:stretch>
            <a:fillRect/>
          </a:stretch>
        </p:blipFill>
        <p:spPr>
          <a:xfrm>
            <a:off x="1486796" y="175745"/>
            <a:ext cx="3943410" cy="2816721"/>
          </a:xfrm>
          <a:prstGeom prst="rect">
            <a:avLst/>
          </a:prstGeom>
        </p:spPr>
      </p:pic>
      <p:pic>
        <p:nvPicPr>
          <p:cNvPr id="17" name="Picture 16">
            <a:extLst>
              <a:ext uri="{FF2B5EF4-FFF2-40B4-BE49-F238E27FC236}">
                <a16:creationId xmlns:a16="http://schemas.microsoft.com/office/drawing/2014/main" id="{46461B03-7433-9498-313F-DCAB643D0284}"/>
              </a:ext>
            </a:extLst>
          </p:cNvPr>
          <p:cNvPicPr>
            <a:picLocks noChangeAspect="1"/>
          </p:cNvPicPr>
          <p:nvPr/>
        </p:nvPicPr>
        <p:blipFill>
          <a:blip r:embed="rId4"/>
          <a:stretch>
            <a:fillRect/>
          </a:stretch>
        </p:blipFill>
        <p:spPr>
          <a:xfrm>
            <a:off x="1493172" y="3437092"/>
            <a:ext cx="4072595" cy="2908996"/>
          </a:xfrm>
          <a:prstGeom prst="rect">
            <a:avLst/>
          </a:prstGeom>
        </p:spPr>
      </p:pic>
      <p:pic>
        <p:nvPicPr>
          <p:cNvPr id="19" name="Picture 18">
            <a:extLst>
              <a:ext uri="{FF2B5EF4-FFF2-40B4-BE49-F238E27FC236}">
                <a16:creationId xmlns:a16="http://schemas.microsoft.com/office/drawing/2014/main" id="{13357C0C-278D-F0EB-07B5-9536506429B9}"/>
              </a:ext>
            </a:extLst>
          </p:cNvPr>
          <p:cNvPicPr>
            <a:picLocks noChangeAspect="1"/>
          </p:cNvPicPr>
          <p:nvPr/>
        </p:nvPicPr>
        <p:blipFill>
          <a:blip r:embed="rId5"/>
          <a:stretch>
            <a:fillRect/>
          </a:stretch>
        </p:blipFill>
        <p:spPr>
          <a:xfrm>
            <a:off x="6437325" y="3548830"/>
            <a:ext cx="3938436" cy="2813168"/>
          </a:xfrm>
          <a:prstGeom prst="rect">
            <a:avLst/>
          </a:prstGeom>
        </p:spPr>
      </p:pic>
      <p:sp>
        <p:nvSpPr>
          <p:cNvPr id="13" name="TextBox 12">
            <a:extLst>
              <a:ext uri="{FF2B5EF4-FFF2-40B4-BE49-F238E27FC236}">
                <a16:creationId xmlns:a16="http://schemas.microsoft.com/office/drawing/2014/main" id="{B82AE4CC-EBF5-D872-6347-3866C0EE9E9F}"/>
              </a:ext>
            </a:extLst>
          </p:cNvPr>
          <p:cNvSpPr txBox="1"/>
          <p:nvPr/>
        </p:nvSpPr>
        <p:spPr>
          <a:xfrm>
            <a:off x="5801032" y="446841"/>
            <a:ext cx="6149726" cy="2308324"/>
          </a:xfrm>
          <a:prstGeom prst="rect">
            <a:avLst/>
          </a:prstGeom>
          <a:noFill/>
        </p:spPr>
        <p:txBody>
          <a:bodyPr wrap="square">
            <a:spAutoFit/>
          </a:bodyPr>
          <a:lstStyle/>
          <a:p>
            <a:pPr marL="457200" indent="-4572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Demographics show weak predictive power</a:t>
            </a:r>
          </a:p>
          <a:p>
            <a:pPr marL="457200" indent="-4572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Performance differences arise from in-store behavior, not population</a:t>
            </a:r>
          </a:p>
          <a:p>
            <a:pPr marL="457200" indent="-4572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Reinforces the need for operational and assortment strategies</a:t>
            </a:r>
          </a:p>
          <a:p>
            <a:pPr marL="457200" indent="-457200">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C334C9BB-C5E1-0651-9700-A0BFCAFF5130}"/>
              </a:ext>
            </a:extLst>
          </p:cNvPr>
          <p:cNvSpPr txBox="1"/>
          <p:nvPr/>
        </p:nvSpPr>
        <p:spPr>
          <a:xfrm>
            <a:off x="6840653" y="6346088"/>
            <a:ext cx="2790283" cy="400110"/>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Correlation = -0.1579369</a:t>
            </a:r>
          </a:p>
        </p:txBody>
      </p:sp>
      <p:sp>
        <p:nvSpPr>
          <p:cNvPr id="4" name="TextBox 3">
            <a:extLst>
              <a:ext uri="{FF2B5EF4-FFF2-40B4-BE49-F238E27FC236}">
                <a16:creationId xmlns:a16="http://schemas.microsoft.com/office/drawing/2014/main" id="{FFD1E9BF-8E1D-110E-3C10-FB563531AEE2}"/>
              </a:ext>
            </a:extLst>
          </p:cNvPr>
          <p:cNvSpPr txBox="1"/>
          <p:nvPr/>
        </p:nvSpPr>
        <p:spPr>
          <a:xfrm>
            <a:off x="2063359" y="6361998"/>
            <a:ext cx="2790283" cy="400110"/>
          </a:xfrm>
          <a:prstGeom prst="rect">
            <a:avLst/>
          </a:prstGeom>
          <a:noFill/>
        </p:spPr>
        <p:txBody>
          <a:bodyPr wrap="square">
            <a:spAutoFit/>
          </a:bodyPr>
          <a:lstStyle/>
          <a:p>
            <a:r>
              <a:rPr lang="en-US" sz="2000" dirty="0"/>
              <a:t>Correlation = </a:t>
            </a:r>
            <a:r>
              <a:rPr lang="en-US" sz="2000" dirty="0">
                <a:latin typeface="Calibri" panose="020F0502020204030204" pitchFamily="34" charset="0"/>
                <a:ea typeface="Calibri" panose="020F0502020204030204" pitchFamily="34" charset="0"/>
                <a:cs typeface="Calibri" panose="020F0502020204030204" pitchFamily="34" charset="0"/>
              </a:rPr>
              <a:t>0.1209889</a:t>
            </a:r>
          </a:p>
        </p:txBody>
      </p:sp>
      <p:sp>
        <p:nvSpPr>
          <p:cNvPr id="5" name="TextBox 4">
            <a:extLst>
              <a:ext uri="{FF2B5EF4-FFF2-40B4-BE49-F238E27FC236}">
                <a16:creationId xmlns:a16="http://schemas.microsoft.com/office/drawing/2014/main" id="{36D26BCF-B93A-83AC-EA5A-B71E51B1608A}"/>
              </a:ext>
            </a:extLst>
          </p:cNvPr>
          <p:cNvSpPr txBox="1"/>
          <p:nvPr/>
        </p:nvSpPr>
        <p:spPr>
          <a:xfrm>
            <a:off x="1972784" y="2992466"/>
            <a:ext cx="2882957" cy="400110"/>
          </a:xfrm>
          <a:prstGeom prst="rect">
            <a:avLst/>
          </a:prstGeom>
          <a:noFill/>
        </p:spPr>
        <p:txBody>
          <a:bodyPr wrap="square">
            <a:spAutoFit/>
          </a:bodyPr>
          <a:lstStyle/>
          <a:p>
            <a:r>
              <a:rPr lang="en-US" sz="2000" dirty="0"/>
              <a:t>Correlation = </a:t>
            </a:r>
            <a:r>
              <a:rPr lang="en-US" sz="2000" dirty="0">
                <a:latin typeface="Calibri" panose="020F0502020204030204" pitchFamily="34" charset="0"/>
                <a:ea typeface="Calibri" panose="020F0502020204030204" pitchFamily="34" charset="0"/>
                <a:cs typeface="Calibri" panose="020F0502020204030204" pitchFamily="34" charset="0"/>
              </a:rPr>
              <a:t>0.0928748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41A683-7926-1976-4DDC-1DADDFC6EA39}"/>
              </a:ext>
            </a:extLst>
          </p:cNvPr>
          <p:cNvSpPr txBox="1"/>
          <p:nvPr/>
        </p:nvSpPr>
        <p:spPr>
          <a:xfrm>
            <a:off x="5392993" y="5668155"/>
            <a:ext cx="7241458" cy="1077218"/>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Very wide variation</a:t>
            </a:r>
          </a:p>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Customer behavior differs by location</a:t>
            </a:r>
          </a:p>
        </p:txBody>
      </p:sp>
      <p:pic>
        <p:nvPicPr>
          <p:cNvPr id="8" name="Picture 7">
            <a:extLst>
              <a:ext uri="{FF2B5EF4-FFF2-40B4-BE49-F238E27FC236}">
                <a16:creationId xmlns:a16="http://schemas.microsoft.com/office/drawing/2014/main" id="{C5DA6EA9-AB07-B43D-8F67-1E52BD291E35}"/>
              </a:ext>
            </a:extLst>
          </p:cNvPr>
          <p:cNvPicPr>
            <a:picLocks noChangeAspect="1"/>
          </p:cNvPicPr>
          <p:nvPr/>
        </p:nvPicPr>
        <p:blipFill>
          <a:blip r:embed="rId3"/>
          <a:stretch>
            <a:fillRect/>
          </a:stretch>
        </p:blipFill>
        <p:spPr>
          <a:xfrm>
            <a:off x="639098" y="278043"/>
            <a:ext cx="7291701" cy="520835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A4CC1E9-D952-01FA-7189-AF6D3C5FF3E0}"/>
              </a:ext>
            </a:extLst>
          </p:cNvPr>
          <p:cNvPicPr>
            <a:picLocks noChangeAspect="1"/>
          </p:cNvPicPr>
          <p:nvPr/>
        </p:nvPicPr>
        <p:blipFill>
          <a:blip r:embed="rId3"/>
          <a:stretch>
            <a:fillRect/>
          </a:stretch>
        </p:blipFill>
        <p:spPr>
          <a:xfrm>
            <a:off x="309693" y="137915"/>
            <a:ext cx="7664269" cy="5474477"/>
          </a:xfrm>
          <a:prstGeom prst="rect">
            <a:avLst/>
          </a:prstGeom>
        </p:spPr>
      </p:pic>
      <p:sp>
        <p:nvSpPr>
          <p:cNvPr id="7" name="TextBox 6">
            <a:extLst>
              <a:ext uri="{FF2B5EF4-FFF2-40B4-BE49-F238E27FC236}">
                <a16:creationId xmlns:a16="http://schemas.microsoft.com/office/drawing/2014/main" id="{DB9FFD98-7F4F-CB8F-77F2-B96117E7DF3B}"/>
              </a:ext>
            </a:extLst>
          </p:cNvPr>
          <p:cNvSpPr txBox="1"/>
          <p:nvPr/>
        </p:nvSpPr>
        <p:spPr>
          <a:xfrm>
            <a:off x="6989823" y="3732679"/>
            <a:ext cx="5044861" cy="2862322"/>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Four-quadrant segmentation based on medians</a:t>
            </a:r>
          </a:p>
          <a:p>
            <a:pPr marL="285750" indent="-28575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Reveals structural positions across stores</a:t>
            </a:r>
          </a:p>
          <a:p>
            <a:pPr marL="285750" indent="-28575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Top performers: Montrose, Kensington, Hampden Lane</a:t>
            </a:r>
          </a:p>
          <a:p>
            <a:pPr marL="285750" indent="-28575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Underperformers: </a:t>
            </a:r>
            <a:r>
              <a:rPr lang="en-US" sz="2000" dirty="0" err="1">
                <a:latin typeface="Calibri" panose="020F0502020204030204" pitchFamily="34" charset="0"/>
                <a:ea typeface="Calibri" panose="020F0502020204030204" pitchFamily="34" charset="0"/>
                <a:cs typeface="Calibri" panose="020F0502020204030204" pitchFamily="34" charset="0"/>
              </a:rPr>
              <a:t>Westbard</a:t>
            </a:r>
            <a:r>
              <a:rPr lang="en-US" sz="2000" dirty="0">
                <a:latin typeface="Calibri" panose="020F0502020204030204" pitchFamily="34" charset="0"/>
                <a:ea typeface="Calibri" panose="020F0502020204030204" pitchFamily="34" charset="0"/>
                <a:cs typeface="Calibri" panose="020F0502020204030204" pitchFamily="34" charset="0"/>
              </a:rPr>
              <a:t>, Poolesville, Gaithersburg</a:t>
            </a:r>
          </a:p>
          <a:p>
            <a:pPr marL="285750" indent="-28575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Traffic is influential, but not sufficient → operational gaps remain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2FB58A8-B16F-EC87-4671-FB4373BDF13C}"/>
              </a:ext>
            </a:extLst>
          </p:cNvPr>
          <p:cNvPicPr>
            <a:picLocks noChangeAspect="1"/>
          </p:cNvPicPr>
          <p:nvPr/>
        </p:nvPicPr>
        <p:blipFill>
          <a:blip r:embed="rId3"/>
          <a:stretch>
            <a:fillRect/>
          </a:stretch>
        </p:blipFill>
        <p:spPr>
          <a:xfrm>
            <a:off x="417848" y="295700"/>
            <a:ext cx="7792087" cy="5565776"/>
          </a:xfrm>
          <a:prstGeom prst="rect">
            <a:avLst/>
          </a:prstGeom>
        </p:spPr>
      </p:pic>
      <p:sp>
        <p:nvSpPr>
          <p:cNvPr id="7" name="TextBox 6">
            <a:extLst>
              <a:ext uri="{FF2B5EF4-FFF2-40B4-BE49-F238E27FC236}">
                <a16:creationId xmlns:a16="http://schemas.microsoft.com/office/drawing/2014/main" id="{9F636F97-9633-C250-0C8B-FDF7A12F6EFD}"/>
              </a:ext>
            </a:extLst>
          </p:cNvPr>
          <p:cNvSpPr txBox="1"/>
          <p:nvPr/>
        </p:nvSpPr>
        <p:spPr>
          <a:xfrm>
            <a:off x="6096000" y="4275705"/>
            <a:ext cx="5753042" cy="2308324"/>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Reveals stores with high traffic but weak buying behavior</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Highlights stores with low traffic but strong, consistent baskets</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Shows basket density as a critical driver of sales productivity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FB0766B-9E33-0D7A-104F-5D04D8B58E4D}"/>
              </a:ext>
            </a:extLst>
          </p:cNvPr>
          <p:cNvPicPr>
            <a:picLocks noChangeAspect="1"/>
          </p:cNvPicPr>
          <p:nvPr/>
        </p:nvPicPr>
        <p:blipFill>
          <a:blip r:embed="rId3"/>
          <a:stretch>
            <a:fillRect/>
          </a:stretch>
        </p:blipFill>
        <p:spPr>
          <a:xfrm>
            <a:off x="408015" y="375364"/>
            <a:ext cx="7719824" cy="5514159"/>
          </a:xfrm>
          <a:prstGeom prst="rect">
            <a:avLst/>
          </a:prstGeom>
        </p:spPr>
      </p:pic>
      <p:sp>
        <p:nvSpPr>
          <p:cNvPr id="7" name="TextBox 6">
            <a:extLst>
              <a:ext uri="{FF2B5EF4-FFF2-40B4-BE49-F238E27FC236}">
                <a16:creationId xmlns:a16="http://schemas.microsoft.com/office/drawing/2014/main" id="{186BA6DF-3602-036C-57D8-B1119419334B}"/>
              </a:ext>
            </a:extLst>
          </p:cNvPr>
          <p:cNvSpPr txBox="1"/>
          <p:nvPr/>
        </p:nvSpPr>
        <p:spPr>
          <a:xfrm>
            <a:off x="5937183" y="4041192"/>
            <a:ext cx="6343308" cy="2554545"/>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Combines traffic and basket density into four store archetypes</a:t>
            </a:r>
          </a:p>
          <a:p>
            <a:pPr marL="285750" indent="-28575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Distinguishes conversion problems from demand problems</a:t>
            </a:r>
          </a:p>
          <a:p>
            <a:pPr marL="285750" indent="-28575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Identifies where traffic, basket value, or both need intervention</a:t>
            </a:r>
          </a:p>
          <a:p>
            <a:pPr marL="285750" indent="-28575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Provides the framework for targeted operational strategy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CB7E9-65D8-3942-B473-1B68FB8EB768}"/>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321E877-3CD4-6147-7DC5-A2B7FB759A2B}"/>
              </a:ext>
            </a:extLst>
          </p:cNvPr>
          <p:cNvGraphicFramePr>
            <a:graphicFrameLocks noGrp="1"/>
          </p:cNvGraphicFramePr>
          <p:nvPr>
            <p:extLst>
              <p:ext uri="{D42A27DB-BD31-4B8C-83A1-F6EECF244321}">
                <p14:modId xmlns:p14="http://schemas.microsoft.com/office/powerpoint/2010/main" val="3023683106"/>
              </p:ext>
            </p:extLst>
          </p:nvPr>
        </p:nvGraphicFramePr>
        <p:xfrm>
          <a:off x="1781071" y="1679952"/>
          <a:ext cx="7468716" cy="4384182"/>
        </p:xfrm>
        <a:graphic>
          <a:graphicData uri="http://schemas.openxmlformats.org/drawingml/2006/table">
            <a:tbl>
              <a:tblPr>
                <a:tableStyleId>{69CF1AB2-1976-4502-BF36-3FF5EA218861}</a:tableStyleId>
              </a:tblPr>
              <a:tblGrid>
                <a:gridCol w="1528186">
                  <a:extLst>
                    <a:ext uri="{9D8B030D-6E8A-4147-A177-3AD203B41FA5}">
                      <a16:colId xmlns:a16="http://schemas.microsoft.com/office/drawing/2014/main" val="264787812"/>
                    </a:ext>
                  </a:extLst>
                </a:gridCol>
                <a:gridCol w="961386">
                  <a:extLst>
                    <a:ext uri="{9D8B030D-6E8A-4147-A177-3AD203B41FA5}">
                      <a16:colId xmlns:a16="http://schemas.microsoft.com/office/drawing/2014/main" val="520607667"/>
                    </a:ext>
                  </a:extLst>
                </a:gridCol>
                <a:gridCol w="1244786">
                  <a:extLst>
                    <a:ext uri="{9D8B030D-6E8A-4147-A177-3AD203B41FA5}">
                      <a16:colId xmlns:a16="http://schemas.microsoft.com/office/drawing/2014/main" val="3189289689"/>
                    </a:ext>
                  </a:extLst>
                </a:gridCol>
                <a:gridCol w="1244786">
                  <a:extLst>
                    <a:ext uri="{9D8B030D-6E8A-4147-A177-3AD203B41FA5}">
                      <a16:colId xmlns:a16="http://schemas.microsoft.com/office/drawing/2014/main" val="989286371"/>
                    </a:ext>
                  </a:extLst>
                </a:gridCol>
                <a:gridCol w="1244786">
                  <a:extLst>
                    <a:ext uri="{9D8B030D-6E8A-4147-A177-3AD203B41FA5}">
                      <a16:colId xmlns:a16="http://schemas.microsoft.com/office/drawing/2014/main" val="2719407658"/>
                    </a:ext>
                  </a:extLst>
                </a:gridCol>
                <a:gridCol w="1244786">
                  <a:extLst>
                    <a:ext uri="{9D8B030D-6E8A-4147-A177-3AD203B41FA5}">
                      <a16:colId xmlns:a16="http://schemas.microsoft.com/office/drawing/2014/main" val="3129769834"/>
                    </a:ext>
                  </a:extLst>
                </a:gridCol>
              </a:tblGrid>
              <a:tr h="259781">
                <a:tc>
                  <a:txBody>
                    <a:bodyPr/>
                    <a:lstStyle/>
                    <a:p>
                      <a:pPr>
                        <a:buNone/>
                      </a:pPr>
                      <a:r>
                        <a:rPr lang="en-US" sz="1300" dirty="0"/>
                        <a:t>Predictor</a:t>
                      </a:r>
                    </a:p>
                  </a:txBody>
                  <a:tcPr marL="64945" marR="64945" marT="32473" marB="32473" anchor="ctr"/>
                </a:tc>
                <a:tc>
                  <a:txBody>
                    <a:bodyPr/>
                    <a:lstStyle/>
                    <a:p>
                      <a:pPr>
                        <a:buNone/>
                      </a:pPr>
                      <a:r>
                        <a:rPr lang="en-US" sz="1300"/>
                        <a:t>Estimate</a:t>
                      </a:r>
                    </a:p>
                  </a:txBody>
                  <a:tcPr marL="64945" marR="64945" marT="32473" marB="32473" anchor="ctr"/>
                </a:tc>
                <a:tc>
                  <a:txBody>
                    <a:bodyPr/>
                    <a:lstStyle/>
                    <a:p>
                      <a:pPr>
                        <a:buNone/>
                      </a:pPr>
                      <a:r>
                        <a:rPr lang="en-US" sz="1300"/>
                        <a:t>Std. Error</a:t>
                      </a:r>
                    </a:p>
                  </a:txBody>
                  <a:tcPr marL="64945" marR="64945" marT="32473" marB="32473" anchor="ctr"/>
                </a:tc>
                <a:tc>
                  <a:txBody>
                    <a:bodyPr/>
                    <a:lstStyle/>
                    <a:p>
                      <a:pPr>
                        <a:buNone/>
                      </a:pPr>
                      <a:r>
                        <a:rPr lang="en-US" sz="1300"/>
                        <a:t>t-value</a:t>
                      </a:r>
                    </a:p>
                  </a:txBody>
                  <a:tcPr marL="64945" marR="64945" marT="32473" marB="32473" anchor="ctr"/>
                </a:tc>
                <a:tc>
                  <a:txBody>
                    <a:bodyPr/>
                    <a:lstStyle/>
                    <a:p>
                      <a:pPr>
                        <a:buNone/>
                      </a:pPr>
                      <a:r>
                        <a:rPr lang="en-US" sz="1300"/>
                        <a:t>p-value</a:t>
                      </a:r>
                    </a:p>
                  </a:txBody>
                  <a:tcPr marL="64945" marR="64945" marT="32473" marB="32473" anchor="ctr"/>
                </a:tc>
                <a:tc>
                  <a:txBody>
                    <a:bodyPr/>
                    <a:lstStyle/>
                    <a:p>
                      <a:pPr>
                        <a:buNone/>
                      </a:pPr>
                      <a:r>
                        <a:rPr lang="en-US" sz="1300"/>
                        <a:t>Significance</a:t>
                      </a:r>
                    </a:p>
                  </a:txBody>
                  <a:tcPr marL="64945" marR="64945" marT="32473" marB="32473" anchor="ctr"/>
                </a:tc>
                <a:extLst>
                  <a:ext uri="{0D108BD9-81ED-4DB2-BD59-A6C34878D82A}">
                    <a16:rowId xmlns:a16="http://schemas.microsoft.com/office/drawing/2014/main" val="1842840293"/>
                  </a:ext>
                </a:extLst>
              </a:tr>
              <a:tr h="454617">
                <a:tc>
                  <a:txBody>
                    <a:bodyPr/>
                    <a:lstStyle/>
                    <a:p>
                      <a:pPr>
                        <a:buNone/>
                      </a:pPr>
                      <a:r>
                        <a:rPr lang="en-US" sz="1300" b="1"/>
                        <a:t>TotalTransactionsPerSqFt</a:t>
                      </a:r>
                      <a:endParaRPr lang="en-US" sz="1300"/>
                    </a:p>
                  </a:txBody>
                  <a:tcPr marL="64945" marR="64945" marT="32473" marB="32473" anchor="ctr"/>
                </a:tc>
                <a:tc>
                  <a:txBody>
                    <a:bodyPr/>
                    <a:lstStyle/>
                    <a:p>
                      <a:pPr>
                        <a:buNone/>
                      </a:pPr>
                      <a:r>
                        <a:rPr lang="en-US" sz="1300"/>
                        <a:t>0.01607</a:t>
                      </a:r>
                    </a:p>
                  </a:txBody>
                  <a:tcPr marL="64945" marR="64945" marT="32473" marB="32473" anchor="ctr"/>
                </a:tc>
                <a:tc>
                  <a:txBody>
                    <a:bodyPr/>
                    <a:lstStyle/>
                    <a:p>
                      <a:pPr>
                        <a:buNone/>
                      </a:pPr>
                      <a:r>
                        <a:rPr lang="en-US" sz="1300"/>
                        <a:t>0.000915</a:t>
                      </a:r>
                    </a:p>
                  </a:txBody>
                  <a:tcPr marL="64945" marR="64945" marT="32473" marB="32473" anchor="ctr"/>
                </a:tc>
                <a:tc>
                  <a:txBody>
                    <a:bodyPr/>
                    <a:lstStyle/>
                    <a:p>
                      <a:pPr>
                        <a:buNone/>
                      </a:pPr>
                      <a:r>
                        <a:rPr lang="en-US" sz="1300"/>
                        <a:t>17.565</a:t>
                      </a:r>
                    </a:p>
                  </a:txBody>
                  <a:tcPr marL="64945" marR="64945" marT="32473" marB="32473" anchor="ctr"/>
                </a:tc>
                <a:tc>
                  <a:txBody>
                    <a:bodyPr/>
                    <a:lstStyle/>
                    <a:p>
                      <a:pPr>
                        <a:buNone/>
                      </a:pPr>
                      <a:r>
                        <a:rPr lang="en-US" sz="1300"/>
                        <a:t>6.2e-11</a:t>
                      </a:r>
                    </a:p>
                  </a:txBody>
                  <a:tcPr marL="64945" marR="64945" marT="32473" marB="32473" anchor="ctr"/>
                </a:tc>
                <a:tc>
                  <a:txBody>
                    <a:bodyPr/>
                    <a:lstStyle/>
                    <a:p>
                      <a:pPr>
                        <a:buNone/>
                      </a:pPr>
                      <a:r>
                        <a:rPr lang="en-US" sz="1300" b="1"/>
                        <a:t>Strong</a:t>
                      </a:r>
                      <a:r>
                        <a:rPr lang="en-US" sz="1300"/>
                        <a:t>*</a:t>
                      </a:r>
                    </a:p>
                  </a:txBody>
                  <a:tcPr marL="64945" marR="64945" marT="32473" marB="32473" anchor="ctr"/>
                </a:tc>
                <a:extLst>
                  <a:ext uri="{0D108BD9-81ED-4DB2-BD59-A6C34878D82A}">
                    <a16:rowId xmlns:a16="http://schemas.microsoft.com/office/drawing/2014/main" val="1084629008"/>
                  </a:ext>
                </a:extLst>
              </a:tr>
              <a:tr h="259781">
                <a:tc>
                  <a:txBody>
                    <a:bodyPr/>
                    <a:lstStyle/>
                    <a:p>
                      <a:pPr>
                        <a:buNone/>
                      </a:pPr>
                      <a:r>
                        <a:rPr lang="en-US" sz="1300" b="1"/>
                        <a:t>Share_BEER</a:t>
                      </a:r>
                      <a:endParaRPr lang="en-US" sz="1300"/>
                    </a:p>
                  </a:txBody>
                  <a:tcPr marL="64945" marR="64945" marT="32473" marB="32473" anchor="ctr"/>
                </a:tc>
                <a:tc>
                  <a:txBody>
                    <a:bodyPr/>
                    <a:lstStyle/>
                    <a:p>
                      <a:pPr>
                        <a:buNone/>
                      </a:pPr>
                      <a:r>
                        <a:rPr lang="en-US" sz="1300"/>
                        <a:t>56.82</a:t>
                      </a:r>
                    </a:p>
                  </a:txBody>
                  <a:tcPr marL="64945" marR="64945" marT="32473" marB="32473" anchor="ctr"/>
                </a:tc>
                <a:tc>
                  <a:txBody>
                    <a:bodyPr/>
                    <a:lstStyle/>
                    <a:p>
                      <a:pPr>
                        <a:buNone/>
                      </a:pPr>
                      <a:r>
                        <a:rPr lang="en-US" sz="1300"/>
                        <a:t>19.14</a:t>
                      </a:r>
                    </a:p>
                  </a:txBody>
                  <a:tcPr marL="64945" marR="64945" marT="32473" marB="32473" anchor="ctr"/>
                </a:tc>
                <a:tc>
                  <a:txBody>
                    <a:bodyPr/>
                    <a:lstStyle/>
                    <a:p>
                      <a:pPr>
                        <a:buNone/>
                      </a:pPr>
                      <a:r>
                        <a:rPr lang="en-US" sz="1300"/>
                        <a:t>2.97</a:t>
                      </a:r>
                    </a:p>
                  </a:txBody>
                  <a:tcPr marL="64945" marR="64945" marT="32473" marB="32473" anchor="ctr"/>
                </a:tc>
                <a:tc>
                  <a:txBody>
                    <a:bodyPr/>
                    <a:lstStyle/>
                    <a:p>
                      <a:pPr>
                        <a:buNone/>
                      </a:pPr>
                      <a:r>
                        <a:rPr lang="en-US" sz="1300"/>
                        <a:t>0.0102</a:t>
                      </a:r>
                    </a:p>
                  </a:txBody>
                  <a:tcPr marL="64945" marR="64945" marT="32473" marB="32473" anchor="ctr"/>
                </a:tc>
                <a:tc>
                  <a:txBody>
                    <a:bodyPr/>
                    <a:lstStyle/>
                    <a:p>
                      <a:pPr>
                        <a:buNone/>
                      </a:pPr>
                      <a:r>
                        <a:rPr lang="en-US" sz="1300" b="1"/>
                        <a:t>Significant</a:t>
                      </a:r>
                      <a:endParaRPr lang="en-US" sz="1300"/>
                    </a:p>
                  </a:txBody>
                  <a:tcPr marL="64945" marR="64945" marT="32473" marB="32473" anchor="ctr"/>
                </a:tc>
                <a:extLst>
                  <a:ext uri="{0D108BD9-81ED-4DB2-BD59-A6C34878D82A}">
                    <a16:rowId xmlns:a16="http://schemas.microsoft.com/office/drawing/2014/main" val="2222440432"/>
                  </a:ext>
                </a:extLst>
              </a:tr>
              <a:tr h="259781">
                <a:tc>
                  <a:txBody>
                    <a:bodyPr/>
                    <a:lstStyle/>
                    <a:p>
                      <a:pPr>
                        <a:buNone/>
                      </a:pPr>
                      <a:r>
                        <a:rPr lang="en-US" sz="1300" b="1"/>
                        <a:t>Share_LIQ</a:t>
                      </a:r>
                      <a:endParaRPr lang="en-US" sz="1300"/>
                    </a:p>
                  </a:txBody>
                  <a:tcPr marL="64945" marR="64945" marT="32473" marB="32473" anchor="ctr"/>
                </a:tc>
                <a:tc>
                  <a:txBody>
                    <a:bodyPr/>
                    <a:lstStyle/>
                    <a:p>
                      <a:pPr>
                        <a:buNone/>
                      </a:pPr>
                      <a:r>
                        <a:rPr lang="en-US" sz="1300"/>
                        <a:t>55.69</a:t>
                      </a:r>
                    </a:p>
                  </a:txBody>
                  <a:tcPr marL="64945" marR="64945" marT="32473" marB="32473" anchor="ctr"/>
                </a:tc>
                <a:tc>
                  <a:txBody>
                    <a:bodyPr/>
                    <a:lstStyle/>
                    <a:p>
                      <a:pPr>
                        <a:buNone/>
                      </a:pPr>
                      <a:r>
                        <a:rPr lang="en-US" sz="1300"/>
                        <a:t>18.45</a:t>
                      </a:r>
                    </a:p>
                  </a:txBody>
                  <a:tcPr marL="64945" marR="64945" marT="32473" marB="32473" anchor="ctr"/>
                </a:tc>
                <a:tc>
                  <a:txBody>
                    <a:bodyPr/>
                    <a:lstStyle/>
                    <a:p>
                      <a:pPr>
                        <a:buNone/>
                      </a:pPr>
                      <a:r>
                        <a:rPr lang="en-US" sz="1300"/>
                        <a:t>3.02</a:t>
                      </a:r>
                    </a:p>
                  </a:txBody>
                  <a:tcPr marL="64945" marR="64945" marT="32473" marB="32473" anchor="ctr"/>
                </a:tc>
                <a:tc>
                  <a:txBody>
                    <a:bodyPr/>
                    <a:lstStyle/>
                    <a:p>
                      <a:pPr>
                        <a:buNone/>
                      </a:pPr>
                      <a:r>
                        <a:rPr lang="en-US" sz="1300"/>
                        <a:t>0.0092</a:t>
                      </a:r>
                    </a:p>
                  </a:txBody>
                  <a:tcPr marL="64945" marR="64945" marT="32473" marB="32473" anchor="ctr"/>
                </a:tc>
                <a:tc>
                  <a:txBody>
                    <a:bodyPr/>
                    <a:lstStyle/>
                    <a:p>
                      <a:pPr>
                        <a:buNone/>
                      </a:pPr>
                      <a:r>
                        <a:rPr lang="en-US" sz="1300" b="1"/>
                        <a:t>Significant</a:t>
                      </a:r>
                      <a:endParaRPr lang="en-US" sz="1300"/>
                    </a:p>
                  </a:txBody>
                  <a:tcPr marL="64945" marR="64945" marT="32473" marB="32473" anchor="ctr"/>
                </a:tc>
                <a:extLst>
                  <a:ext uri="{0D108BD9-81ED-4DB2-BD59-A6C34878D82A}">
                    <a16:rowId xmlns:a16="http://schemas.microsoft.com/office/drawing/2014/main" val="176855546"/>
                  </a:ext>
                </a:extLst>
              </a:tr>
              <a:tr h="259781">
                <a:tc>
                  <a:txBody>
                    <a:bodyPr/>
                    <a:lstStyle/>
                    <a:p>
                      <a:pPr>
                        <a:buNone/>
                      </a:pPr>
                      <a:r>
                        <a:rPr lang="en-US" sz="1300" b="1"/>
                        <a:t>Share_WINE</a:t>
                      </a:r>
                      <a:endParaRPr lang="en-US" sz="1300"/>
                    </a:p>
                  </a:txBody>
                  <a:tcPr marL="64945" marR="64945" marT="32473" marB="32473" anchor="ctr"/>
                </a:tc>
                <a:tc>
                  <a:txBody>
                    <a:bodyPr/>
                    <a:lstStyle/>
                    <a:p>
                      <a:pPr>
                        <a:buNone/>
                      </a:pPr>
                      <a:r>
                        <a:rPr lang="en-US" sz="1300"/>
                        <a:t>55.66</a:t>
                      </a:r>
                    </a:p>
                  </a:txBody>
                  <a:tcPr marL="64945" marR="64945" marT="32473" marB="32473" anchor="ctr"/>
                </a:tc>
                <a:tc>
                  <a:txBody>
                    <a:bodyPr/>
                    <a:lstStyle/>
                    <a:p>
                      <a:pPr>
                        <a:buNone/>
                      </a:pPr>
                      <a:r>
                        <a:rPr lang="en-US" sz="1300"/>
                        <a:t>18.08</a:t>
                      </a:r>
                    </a:p>
                  </a:txBody>
                  <a:tcPr marL="64945" marR="64945" marT="32473" marB="32473" anchor="ctr"/>
                </a:tc>
                <a:tc>
                  <a:txBody>
                    <a:bodyPr/>
                    <a:lstStyle/>
                    <a:p>
                      <a:pPr>
                        <a:buNone/>
                      </a:pPr>
                      <a:r>
                        <a:rPr lang="en-US" sz="1300"/>
                        <a:t>3.08</a:t>
                      </a:r>
                    </a:p>
                  </a:txBody>
                  <a:tcPr marL="64945" marR="64945" marT="32473" marB="32473" anchor="ctr"/>
                </a:tc>
                <a:tc>
                  <a:txBody>
                    <a:bodyPr/>
                    <a:lstStyle/>
                    <a:p>
                      <a:pPr>
                        <a:buNone/>
                      </a:pPr>
                      <a:r>
                        <a:rPr lang="en-US" sz="1300"/>
                        <a:t>0.0082</a:t>
                      </a:r>
                    </a:p>
                  </a:txBody>
                  <a:tcPr marL="64945" marR="64945" marT="32473" marB="32473" anchor="ctr"/>
                </a:tc>
                <a:tc>
                  <a:txBody>
                    <a:bodyPr/>
                    <a:lstStyle/>
                    <a:p>
                      <a:pPr>
                        <a:buNone/>
                      </a:pPr>
                      <a:r>
                        <a:rPr lang="en-US" sz="1300" b="1"/>
                        <a:t>Significant</a:t>
                      </a:r>
                      <a:endParaRPr lang="en-US" sz="1300"/>
                    </a:p>
                  </a:txBody>
                  <a:tcPr marL="64945" marR="64945" marT="32473" marB="32473" anchor="ctr"/>
                </a:tc>
                <a:extLst>
                  <a:ext uri="{0D108BD9-81ED-4DB2-BD59-A6C34878D82A}">
                    <a16:rowId xmlns:a16="http://schemas.microsoft.com/office/drawing/2014/main" val="2215609523"/>
                  </a:ext>
                </a:extLst>
              </a:tr>
              <a:tr h="454617">
                <a:tc>
                  <a:txBody>
                    <a:bodyPr/>
                    <a:lstStyle/>
                    <a:p>
                      <a:pPr>
                        <a:buNone/>
                      </a:pPr>
                      <a:r>
                        <a:rPr lang="en-US" sz="1300" b="1" dirty="0" err="1"/>
                        <a:t>Share_Weekday</a:t>
                      </a:r>
                      <a:endParaRPr lang="en-US" sz="1300" dirty="0"/>
                    </a:p>
                  </a:txBody>
                  <a:tcPr marL="64945" marR="64945" marT="32473" marB="32473" anchor="ctr"/>
                </a:tc>
                <a:tc>
                  <a:txBody>
                    <a:bodyPr/>
                    <a:lstStyle/>
                    <a:p>
                      <a:pPr>
                        <a:buNone/>
                      </a:pPr>
                      <a:r>
                        <a:rPr lang="en-US" sz="1300"/>
                        <a:t>–76.74</a:t>
                      </a:r>
                    </a:p>
                  </a:txBody>
                  <a:tcPr marL="64945" marR="64945" marT="32473" marB="32473" anchor="ctr"/>
                </a:tc>
                <a:tc>
                  <a:txBody>
                    <a:bodyPr/>
                    <a:lstStyle/>
                    <a:p>
                      <a:pPr>
                        <a:buNone/>
                      </a:pPr>
                      <a:r>
                        <a:rPr lang="en-US" sz="1300"/>
                        <a:t>35.65</a:t>
                      </a:r>
                    </a:p>
                  </a:txBody>
                  <a:tcPr marL="64945" marR="64945" marT="32473" marB="32473" anchor="ctr"/>
                </a:tc>
                <a:tc>
                  <a:txBody>
                    <a:bodyPr/>
                    <a:lstStyle/>
                    <a:p>
                      <a:pPr>
                        <a:buNone/>
                      </a:pPr>
                      <a:r>
                        <a:rPr lang="en-US" sz="1300"/>
                        <a:t>–2.15</a:t>
                      </a:r>
                    </a:p>
                  </a:txBody>
                  <a:tcPr marL="64945" marR="64945" marT="32473" marB="32473" anchor="ctr"/>
                </a:tc>
                <a:tc>
                  <a:txBody>
                    <a:bodyPr/>
                    <a:lstStyle/>
                    <a:p>
                      <a:pPr>
                        <a:buNone/>
                      </a:pPr>
                      <a:r>
                        <a:rPr lang="en-US" sz="1300"/>
                        <a:t>0.0493</a:t>
                      </a:r>
                    </a:p>
                  </a:txBody>
                  <a:tcPr marL="64945" marR="64945" marT="32473" marB="32473" anchor="ctr"/>
                </a:tc>
                <a:tc>
                  <a:txBody>
                    <a:bodyPr/>
                    <a:lstStyle/>
                    <a:p>
                      <a:pPr>
                        <a:buNone/>
                      </a:pPr>
                      <a:r>
                        <a:rPr lang="en-US" sz="1300" b="1"/>
                        <a:t>Significant</a:t>
                      </a:r>
                      <a:endParaRPr lang="en-US" sz="1300"/>
                    </a:p>
                  </a:txBody>
                  <a:tcPr marL="64945" marR="64945" marT="32473" marB="32473" anchor="ctr"/>
                </a:tc>
                <a:extLst>
                  <a:ext uri="{0D108BD9-81ED-4DB2-BD59-A6C34878D82A}">
                    <a16:rowId xmlns:a16="http://schemas.microsoft.com/office/drawing/2014/main" val="1119545774"/>
                  </a:ext>
                </a:extLst>
              </a:tr>
              <a:tr h="454617">
                <a:tc>
                  <a:txBody>
                    <a:bodyPr/>
                    <a:lstStyle/>
                    <a:p>
                      <a:pPr>
                        <a:buNone/>
                      </a:pPr>
                      <a:r>
                        <a:rPr lang="en-US" sz="1300" b="1" dirty="0" err="1"/>
                        <a:t>Share_Weekend</a:t>
                      </a:r>
                      <a:endParaRPr lang="en-US" sz="1300" dirty="0"/>
                    </a:p>
                  </a:txBody>
                  <a:tcPr marL="64945" marR="64945" marT="32473" marB="32473" anchor="ctr"/>
                </a:tc>
                <a:tc>
                  <a:txBody>
                    <a:bodyPr/>
                    <a:lstStyle/>
                    <a:p>
                      <a:pPr>
                        <a:buNone/>
                      </a:pPr>
                      <a:r>
                        <a:rPr lang="en-US" sz="1300"/>
                        <a:t>–80.51</a:t>
                      </a:r>
                    </a:p>
                  </a:txBody>
                  <a:tcPr marL="64945" marR="64945" marT="32473" marB="32473" anchor="ctr"/>
                </a:tc>
                <a:tc>
                  <a:txBody>
                    <a:bodyPr/>
                    <a:lstStyle/>
                    <a:p>
                      <a:pPr>
                        <a:buNone/>
                      </a:pPr>
                      <a:r>
                        <a:rPr lang="en-US" sz="1300"/>
                        <a:t>36.00</a:t>
                      </a:r>
                    </a:p>
                  </a:txBody>
                  <a:tcPr marL="64945" marR="64945" marT="32473" marB="32473" anchor="ctr"/>
                </a:tc>
                <a:tc>
                  <a:txBody>
                    <a:bodyPr/>
                    <a:lstStyle/>
                    <a:p>
                      <a:pPr>
                        <a:buNone/>
                      </a:pPr>
                      <a:r>
                        <a:rPr lang="en-US" sz="1300"/>
                        <a:t>–2.24</a:t>
                      </a:r>
                    </a:p>
                  </a:txBody>
                  <a:tcPr marL="64945" marR="64945" marT="32473" marB="32473" anchor="ctr"/>
                </a:tc>
                <a:tc>
                  <a:txBody>
                    <a:bodyPr/>
                    <a:lstStyle/>
                    <a:p>
                      <a:pPr>
                        <a:buNone/>
                      </a:pPr>
                      <a:r>
                        <a:rPr lang="en-US" sz="1300"/>
                        <a:t>0.0421</a:t>
                      </a:r>
                    </a:p>
                  </a:txBody>
                  <a:tcPr marL="64945" marR="64945" marT="32473" marB="32473" anchor="ctr"/>
                </a:tc>
                <a:tc>
                  <a:txBody>
                    <a:bodyPr/>
                    <a:lstStyle/>
                    <a:p>
                      <a:pPr>
                        <a:buNone/>
                      </a:pPr>
                      <a:r>
                        <a:rPr lang="en-US" sz="1300" b="1"/>
                        <a:t>Significant</a:t>
                      </a:r>
                      <a:endParaRPr lang="en-US" sz="1300"/>
                    </a:p>
                  </a:txBody>
                  <a:tcPr marL="64945" marR="64945" marT="32473" marB="32473" anchor="ctr"/>
                </a:tc>
                <a:extLst>
                  <a:ext uri="{0D108BD9-81ED-4DB2-BD59-A6C34878D82A}">
                    <a16:rowId xmlns:a16="http://schemas.microsoft.com/office/drawing/2014/main" val="3230730714"/>
                  </a:ext>
                </a:extLst>
              </a:tr>
              <a:tr h="454617">
                <a:tc>
                  <a:txBody>
                    <a:bodyPr/>
                    <a:lstStyle/>
                    <a:p>
                      <a:pPr>
                        <a:buNone/>
                      </a:pPr>
                      <a:r>
                        <a:rPr lang="en-US" sz="1300"/>
                        <a:t>Avg_BasketValue</a:t>
                      </a:r>
                    </a:p>
                  </a:txBody>
                  <a:tcPr marL="64945" marR="64945" marT="32473" marB="32473" anchor="ctr"/>
                </a:tc>
                <a:tc>
                  <a:txBody>
                    <a:bodyPr/>
                    <a:lstStyle/>
                    <a:p>
                      <a:pPr>
                        <a:buNone/>
                      </a:pPr>
                      <a:r>
                        <a:rPr lang="en-US" sz="1300"/>
                        <a:t>0.0204</a:t>
                      </a:r>
                    </a:p>
                  </a:txBody>
                  <a:tcPr marL="64945" marR="64945" marT="32473" marB="32473" anchor="ctr"/>
                </a:tc>
                <a:tc>
                  <a:txBody>
                    <a:bodyPr/>
                    <a:lstStyle/>
                    <a:p>
                      <a:pPr>
                        <a:buNone/>
                      </a:pPr>
                      <a:r>
                        <a:rPr lang="en-US" sz="1300"/>
                        <a:t>0.0101</a:t>
                      </a:r>
                    </a:p>
                  </a:txBody>
                  <a:tcPr marL="64945" marR="64945" marT="32473" marB="32473" anchor="ctr"/>
                </a:tc>
                <a:tc>
                  <a:txBody>
                    <a:bodyPr/>
                    <a:lstStyle/>
                    <a:p>
                      <a:pPr>
                        <a:buNone/>
                      </a:pPr>
                      <a:r>
                        <a:rPr lang="en-US" sz="1300"/>
                        <a:t>2.02</a:t>
                      </a:r>
                    </a:p>
                  </a:txBody>
                  <a:tcPr marL="64945" marR="64945" marT="32473" marB="32473" anchor="ctr"/>
                </a:tc>
                <a:tc>
                  <a:txBody>
                    <a:bodyPr/>
                    <a:lstStyle/>
                    <a:p>
                      <a:pPr>
                        <a:buNone/>
                      </a:pPr>
                      <a:r>
                        <a:rPr lang="en-US" sz="1300"/>
                        <a:t>0.0634</a:t>
                      </a:r>
                    </a:p>
                  </a:txBody>
                  <a:tcPr marL="64945" marR="64945" marT="32473" marB="32473" anchor="ctr"/>
                </a:tc>
                <a:tc>
                  <a:txBody>
                    <a:bodyPr/>
                    <a:lstStyle/>
                    <a:p>
                      <a:pPr>
                        <a:buNone/>
                      </a:pPr>
                      <a:r>
                        <a:rPr lang="en-US" sz="1300"/>
                        <a:t>Borderline</a:t>
                      </a:r>
                    </a:p>
                  </a:txBody>
                  <a:tcPr marL="64945" marR="64945" marT="32473" marB="32473" anchor="ctr"/>
                </a:tc>
                <a:extLst>
                  <a:ext uri="{0D108BD9-81ED-4DB2-BD59-A6C34878D82A}">
                    <a16:rowId xmlns:a16="http://schemas.microsoft.com/office/drawing/2014/main" val="2325057806"/>
                  </a:ext>
                </a:extLst>
              </a:tr>
              <a:tr h="454617">
                <a:tc>
                  <a:txBody>
                    <a:bodyPr/>
                    <a:lstStyle/>
                    <a:p>
                      <a:pPr>
                        <a:buNone/>
                      </a:pPr>
                      <a:r>
                        <a:rPr lang="en-US" sz="1300"/>
                        <a:t>AvgItemsPerBasket</a:t>
                      </a:r>
                    </a:p>
                  </a:txBody>
                  <a:tcPr marL="64945" marR="64945" marT="32473" marB="32473" anchor="ctr"/>
                </a:tc>
                <a:tc>
                  <a:txBody>
                    <a:bodyPr/>
                    <a:lstStyle/>
                    <a:p>
                      <a:pPr>
                        <a:buNone/>
                      </a:pPr>
                      <a:r>
                        <a:rPr lang="en-US" sz="1300"/>
                        <a:t>–0.2195</a:t>
                      </a:r>
                    </a:p>
                  </a:txBody>
                  <a:tcPr marL="64945" marR="64945" marT="32473" marB="32473" anchor="ctr"/>
                </a:tc>
                <a:tc>
                  <a:txBody>
                    <a:bodyPr/>
                    <a:lstStyle/>
                    <a:p>
                      <a:pPr>
                        <a:buNone/>
                      </a:pPr>
                      <a:r>
                        <a:rPr lang="en-US" sz="1300"/>
                        <a:t>0.2440</a:t>
                      </a:r>
                    </a:p>
                  </a:txBody>
                  <a:tcPr marL="64945" marR="64945" marT="32473" marB="32473" anchor="ctr"/>
                </a:tc>
                <a:tc>
                  <a:txBody>
                    <a:bodyPr/>
                    <a:lstStyle/>
                    <a:p>
                      <a:pPr>
                        <a:buNone/>
                      </a:pPr>
                      <a:r>
                        <a:rPr lang="en-US" sz="1300"/>
                        <a:t>–0.90</a:t>
                      </a:r>
                    </a:p>
                  </a:txBody>
                  <a:tcPr marL="64945" marR="64945" marT="32473" marB="32473" anchor="ctr"/>
                </a:tc>
                <a:tc>
                  <a:txBody>
                    <a:bodyPr/>
                    <a:lstStyle/>
                    <a:p>
                      <a:pPr>
                        <a:buNone/>
                      </a:pPr>
                      <a:r>
                        <a:rPr lang="en-US" sz="1300"/>
                        <a:t>0.3835</a:t>
                      </a:r>
                    </a:p>
                  </a:txBody>
                  <a:tcPr marL="64945" marR="64945" marT="32473" marB="32473" anchor="ctr"/>
                </a:tc>
                <a:tc>
                  <a:txBody>
                    <a:bodyPr/>
                    <a:lstStyle/>
                    <a:p>
                      <a:pPr>
                        <a:buNone/>
                      </a:pPr>
                      <a:r>
                        <a:rPr lang="en-US" sz="1300"/>
                        <a:t>NS</a:t>
                      </a:r>
                    </a:p>
                  </a:txBody>
                  <a:tcPr marL="64945" marR="64945" marT="32473" marB="32473" anchor="ctr"/>
                </a:tc>
                <a:extLst>
                  <a:ext uri="{0D108BD9-81ED-4DB2-BD59-A6C34878D82A}">
                    <a16:rowId xmlns:a16="http://schemas.microsoft.com/office/drawing/2014/main" val="900756175"/>
                  </a:ext>
                </a:extLst>
              </a:tr>
              <a:tr h="259781">
                <a:tc>
                  <a:txBody>
                    <a:bodyPr/>
                    <a:lstStyle/>
                    <a:p>
                      <a:pPr>
                        <a:buNone/>
                      </a:pPr>
                      <a:r>
                        <a:rPr lang="en-US" sz="1300"/>
                        <a:t>SquareFootage</a:t>
                      </a:r>
                    </a:p>
                  </a:txBody>
                  <a:tcPr marL="64945" marR="64945" marT="32473" marB="32473" anchor="ctr"/>
                </a:tc>
                <a:tc>
                  <a:txBody>
                    <a:bodyPr/>
                    <a:lstStyle/>
                    <a:p>
                      <a:pPr>
                        <a:buNone/>
                      </a:pPr>
                      <a:r>
                        <a:rPr lang="en-US" sz="1300"/>
                        <a:t>0.0000163</a:t>
                      </a:r>
                    </a:p>
                  </a:txBody>
                  <a:tcPr marL="64945" marR="64945" marT="32473" marB="32473" anchor="ctr"/>
                </a:tc>
                <a:tc>
                  <a:txBody>
                    <a:bodyPr/>
                    <a:lstStyle/>
                    <a:p>
                      <a:pPr>
                        <a:buNone/>
                      </a:pPr>
                      <a:r>
                        <a:rPr lang="en-US" sz="1300"/>
                        <a:t>0.0000199</a:t>
                      </a:r>
                    </a:p>
                  </a:txBody>
                  <a:tcPr marL="64945" marR="64945" marT="32473" marB="32473" anchor="ctr"/>
                </a:tc>
                <a:tc>
                  <a:txBody>
                    <a:bodyPr/>
                    <a:lstStyle/>
                    <a:p>
                      <a:pPr>
                        <a:buNone/>
                      </a:pPr>
                      <a:r>
                        <a:rPr lang="en-US" sz="1300"/>
                        <a:t>0.82</a:t>
                      </a:r>
                    </a:p>
                  </a:txBody>
                  <a:tcPr marL="64945" marR="64945" marT="32473" marB="32473" anchor="ctr"/>
                </a:tc>
                <a:tc>
                  <a:txBody>
                    <a:bodyPr/>
                    <a:lstStyle/>
                    <a:p>
                      <a:pPr>
                        <a:buNone/>
                      </a:pPr>
                      <a:r>
                        <a:rPr lang="en-US" sz="1300"/>
                        <a:t>0.4250</a:t>
                      </a:r>
                    </a:p>
                  </a:txBody>
                  <a:tcPr marL="64945" marR="64945" marT="32473" marB="32473" anchor="ctr"/>
                </a:tc>
                <a:tc>
                  <a:txBody>
                    <a:bodyPr/>
                    <a:lstStyle/>
                    <a:p>
                      <a:pPr>
                        <a:buNone/>
                      </a:pPr>
                      <a:r>
                        <a:rPr lang="en-US" sz="1300"/>
                        <a:t>NS</a:t>
                      </a:r>
                    </a:p>
                  </a:txBody>
                  <a:tcPr marL="64945" marR="64945" marT="32473" marB="32473" anchor="ctr"/>
                </a:tc>
                <a:extLst>
                  <a:ext uri="{0D108BD9-81ED-4DB2-BD59-A6C34878D82A}">
                    <a16:rowId xmlns:a16="http://schemas.microsoft.com/office/drawing/2014/main" val="2194822704"/>
                  </a:ext>
                </a:extLst>
              </a:tr>
              <a:tr h="259781">
                <a:tc>
                  <a:txBody>
                    <a:bodyPr/>
                    <a:lstStyle/>
                    <a:p>
                      <a:pPr>
                        <a:buNone/>
                      </a:pPr>
                      <a:r>
                        <a:rPr lang="en-US" sz="1300"/>
                        <a:t>TotalPopulation</a:t>
                      </a:r>
                    </a:p>
                  </a:txBody>
                  <a:tcPr marL="64945" marR="64945" marT="32473" marB="32473" anchor="ctr"/>
                </a:tc>
                <a:tc>
                  <a:txBody>
                    <a:bodyPr/>
                    <a:lstStyle/>
                    <a:p>
                      <a:pPr>
                        <a:buNone/>
                      </a:pPr>
                      <a:r>
                        <a:rPr lang="en-US" sz="1300"/>
                        <a:t>0.0000241</a:t>
                      </a:r>
                    </a:p>
                  </a:txBody>
                  <a:tcPr marL="64945" marR="64945" marT="32473" marB="32473" anchor="ctr"/>
                </a:tc>
                <a:tc>
                  <a:txBody>
                    <a:bodyPr/>
                    <a:lstStyle/>
                    <a:p>
                      <a:pPr>
                        <a:buNone/>
                      </a:pPr>
                      <a:r>
                        <a:rPr lang="en-US" sz="1300"/>
                        <a:t>0.0000300</a:t>
                      </a:r>
                    </a:p>
                  </a:txBody>
                  <a:tcPr marL="64945" marR="64945" marT="32473" marB="32473" anchor="ctr"/>
                </a:tc>
                <a:tc>
                  <a:txBody>
                    <a:bodyPr/>
                    <a:lstStyle/>
                    <a:p>
                      <a:pPr>
                        <a:buNone/>
                      </a:pPr>
                      <a:r>
                        <a:rPr lang="en-US" sz="1300"/>
                        <a:t>0.80</a:t>
                      </a:r>
                    </a:p>
                  </a:txBody>
                  <a:tcPr marL="64945" marR="64945" marT="32473" marB="32473" anchor="ctr"/>
                </a:tc>
                <a:tc>
                  <a:txBody>
                    <a:bodyPr/>
                    <a:lstStyle/>
                    <a:p>
                      <a:pPr>
                        <a:buNone/>
                      </a:pPr>
                      <a:r>
                        <a:rPr lang="en-US" sz="1300"/>
                        <a:t>0.4358</a:t>
                      </a:r>
                    </a:p>
                  </a:txBody>
                  <a:tcPr marL="64945" marR="64945" marT="32473" marB="32473" anchor="ctr"/>
                </a:tc>
                <a:tc>
                  <a:txBody>
                    <a:bodyPr/>
                    <a:lstStyle/>
                    <a:p>
                      <a:pPr>
                        <a:buNone/>
                      </a:pPr>
                      <a:r>
                        <a:rPr lang="en-US" sz="1300"/>
                        <a:t>NS</a:t>
                      </a:r>
                    </a:p>
                  </a:txBody>
                  <a:tcPr marL="64945" marR="64945" marT="32473" marB="32473" anchor="ctr"/>
                </a:tc>
                <a:extLst>
                  <a:ext uri="{0D108BD9-81ED-4DB2-BD59-A6C34878D82A}">
                    <a16:rowId xmlns:a16="http://schemas.microsoft.com/office/drawing/2014/main" val="2960176426"/>
                  </a:ext>
                </a:extLst>
              </a:tr>
              <a:tr h="259781">
                <a:tc>
                  <a:txBody>
                    <a:bodyPr/>
                    <a:lstStyle/>
                    <a:p>
                      <a:pPr>
                        <a:buNone/>
                      </a:pPr>
                      <a:r>
                        <a:rPr lang="en-US" sz="1300"/>
                        <a:t>Older25Years</a:t>
                      </a:r>
                    </a:p>
                  </a:txBody>
                  <a:tcPr marL="64945" marR="64945" marT="32473" marB="32473" anchor="ctr"/>
                </a:tc>
                <a:tc>
                  <a:txBody>
                    <a:bodyPr/>
                    <a:lstStyle/>
                    <a:p>
                      <a:pPr>
                        <a:buNone/>
                      </a:pPr>
                      <a:r>
                        <a:rPr lang="en-US" sz="1300"/>
                        <a:t>–0.000031</a:t>
                      </a:r>
                    </a:p>
                  </a:txBody>
                  <a:tcPr marL="64945" marR="64945" marT="32473" marB="32473" anchor="ctr"/>
                </a:tc>
                <a:tc>
                  <a:txBody>
                    <a:bodyPr/>
                    <a:lstStyle/>
                    <a:p>
                      <a:pPr>
                        <a:buNone/>
                      </a:pPr>
                      <a:r>
                        <a:rPr lang="en-US" sz="1300"/>
                        <a:t>0.0000392</a:t>
                      </a:r>
                    </a:p>
                  </a:txBody>
                  <a:tcPr marL="64945" marR="64945" marT="32473" marB="32473" anchor="ctr"/>
                </a:tc>
                <a:tc>
                  <a:txBody>
                    <a:bodyPr/>
                    <a:lstStyle/>
                    <a:p>
                      <a:pPr>
                        <a:buNone/>
                      </a:pPr>
                      <a:r>
                        <a:rPr lang="en-US" sz="1300"/>
                        <a:t>–0.79</a:t>
                      </a:r>
                    </a:p>
                  </a:txBody>
                  <a:tcPr marL="64945" marR="64945" marT="32473" marB="32473" anchor="ctr"/>
                </a:tc>
                <a:tc>
                  <a:txBody>
                    <a:bodyPr/>
                    <a:lstStyle/>
                    <a:p>
                      <a:pPr>
                        <a:buNone/>
                      </a:pPr>
                      <a:r>
                        <a:rPr lang="en-US" sz="1300"/>
                        <a:t>0.4421</a:t>
                      </a:r>
                    </a:p>
                  </a:txBody>
                  <a:tcPr marL="64945" marR="64945" marT="32473" marB="32473" anchor="ctr"/>
                </a:tc>
                <a:tc>
                  <a:txBody>
                    <a:bodyPr/>
                    <a:lstStyle/>
                    <a:p>
                      <a:pPr>
                        <a:buNone/>
                      </a:pPr>
                      <a:r>
                        <a:rPr lang="en-US" sz="1300"/>
                        <a:t>NS</a:t>
                      </a:r>
                    </a:p>
                  </a:txBody>
                  <a:tcPr marL="64945" marR="64945" marT="32473" marB="32473" anchor="ctr"/>
                </a:tc>
                <a:extLst>
                  <a:ext uri="{0D108BD9-81ED-4DB2-BD59-A6C34878D82A}">
                    <a16:rowId xmlns:a16="http://schemas.microsoft.com/office/drawing/2014/main" val="296952697"/>
                  </a:ext>
                </a:extLst>
              </a:tr>
              <a:tr h="259781">
                <a:tc>
                  <a:txBody>
                    <a:bodyPr/>
                    <a:lstStyle/>
                    <a:p>
                      <a:pPr>
                        <a:buNone/>
                      </a:pPr>
                      <a:r>
                        <a:rPr lang="en-US" sz="1300"/>
                        <a:t>PovertyLevel</a:t>
                      </a:r>
                    </a:p>
                  </a:txBody>
                  <a:tcPr marL="64945" marR="64945" marT="32473" marB="32473" anchor="ctr"/>
                </a:tc>
                <a:tc>
                  <a:txBody>
                    <a:bodyPr/>
                    <a:lstStyle/>
                    <a:p>
                      <a:pPr>
                        <a:buNone/>
                      </a:pPr>
                      <a:r>
                        <a:rPr lang="en-US" sz="1300"/>
                        <a:t>–0.000016</a:t>
                      </a:r>
                    </a:p>
                  </a:txBody>
                  <a:tcPr marL="64945" marR="64945" marT="32473" marB="32473" anchor="ctr"/>
                </a:tc>
                <a:tc>
                  <a:txBody>
                    <a:bodyPr/>
                    <a:lstStyle/>
                    <a:p>
                      <a:pPr>
                        <a:buNone/>
                      </a:pPr>
                      <a:r>
                        <a:rPr lang="en-US" sz="1300" dirty="0"/>
                        <a:t>0.0000316</a:t>
                      </a:r>
                    </a:p>
                  </a:txBody>
                  <a:tcPr marL="64945" marR="64945" marT="32473" marB="32473" anchor="ctr"/>
                </a:tc>
                <a:tc>
                  <a:txBody>
                    <a:bodyPr/>
                    <a:lstStyle/>
                    <a:p>
                      <a:pPr>
                        <a:buNone/>
                      </a:pPr>
                      <a:r>
                        <a:rPr lang="en-US" sz="1300"/>
                        <a:t>–0.51</a:t>
                      </a:r>
                    </a:p>
                  </a:txBody>
                  <a:tcPr marL="64945" marR="64945" marT="32473" marB="32473" anchor="ctr"/>
                </a:tc>
                <a:tc>
                  <a:txBody>
                    <a:bodyPr/>
                    <a:lstStyle/>
                    <a:p>
                      <a:pPr>
                        <a:buNone/>
                      </a:pPr>
                      <a:r>
                        <a:rPr lang="en-US" sz="1300"/>
                        <a:t>0.6163</a:t>
                      </a:r>
                    </a:p>
                  </a:txBody>
                  <a:tcPr marL="64945" marR="64945" marT="32473" marB="32473" anchor="ctr"/>
                </a:tc>
                <a:tc>
                  <a:txBody>
                    <a:bodyPr/>
                    <a:lstStyle/>
                    <a:p>
                      <a:pPr>
                        <a:buNone/>
                      </a:pPr>
                      <a:r>
                        <a:rPr lang="en-US" sz="1300" dirty="0"/>
                        <a:t>NS</a:t>
                      </a:r>
                    </a:p>
                  </a:txBody>
                  <a:tcPr marL="64945" marR="64945" marT="32473" marB="32473" anchor="ctr"/>
                </a:tc>
                <a:extLst>
                  <a:ext uri="{0D108BD9-81ED-4DB2-BD59-A6C34878D82A}">
                    <a16:rowId xmlns:a16="http://schemas.microsoft.com/office/drawing/2014/main" val="1556964160"/>
                  </a:ext>
                </a:extLst>
              </a:tr>
            </a:tbl>
          </a:graphicData>
        </a:graphic>
      </p:graphicFrame>
      <p:sp>
        <p:nvSpPr>
          <p:cNvPr id="4" name="TextBox 3">
            <a:extLst>
              <a:ext uri="{FF2B5EF4-FFF2-40B4-BE49-F238E27FC236}">
                <a16:creationId xmlns:a16="http://schemas.microsoft.com/office/drawing/2014/main" id="{262865FF-6537-FEC7-0E83-91F0A29E4E48}"/>
              </a:ext>
            </a:extLst>
          </p:cNvPr>
          <p:cNvSpPr txBox="1"/>
          <p:nvPr/>
        </p:nvSpPr>
        <p:spPr>
          <a:xfrm>
            <a:off x="1451427" y="470700"/>
            <a:ext cx="8679543" cy="646331"/>
          </a:xfrm>
          <a:prstGeom prst="rect">
            <a:avLst/>
          </a:prstGeom>
          <a:noFill/>
        </p:spPr>
        <p:txBody>
          <a:bodyPr wrap="square">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OLS Coefficient Significance Table (</a:t>
            </a:r>
            <a:r>
              <a:rPr lang="el-GR" sz="3600" b="1" dirty="0">
                <a:latin typeface="Calibri" panose="020F0502020204030204" pitchFamily="34" charset="0"/>
                <a:ea typeface="Calibri" panose="020F0502020204030204" pitchFamily="34" charset="0"/>
                <a:cs typeface="Calibri" panose="020F0502020204030204" pitchFamily="34" charset="0"/>
              </a:rPr>
              <a:t>α = 0.05)</a:t>
            </a:r>
            <a:endParaRPr lang="en-US" sz="36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98912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651D6-1C9D-EAC2-21CA-A3A1B260AAB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B487B23-DB16-C53F-354E-0072EBFF4205}"/>
              </a:ext>
            </a:extLst>
          </p:cNvPr>
          <p:cNvSpPr txBox="1"/>
          <p:nvPr/>
        </p:nvSpPr>
        <p:spPr>
          <a:xfrm>
            <a:off x="2706914" y="553659"/>
            <a:ext cx="6778171" cy="584775"/>
          </a:xfrm>
          <a:prstGeom prst="rect">
            <a:avLst/>
          </a:prstGeom>
          <a:noFill/>
        </p:spPr>
        <p:txBody>
          <a:bodyPr wrap="square">
            <a:spAutoFit/>
          </a:bodyPr>
          <a:lstStyle/>
          <a:p>
            <a:r>
              <a:rPr lang="en-US" sz="3200" b="1" dirty="0">
                <a:latin typeface="Calibri" panose="020F0502020204030204" pitchFamily="34" charset="0"/>
                <a:ea typeface="Calibri" panose="020F0502020204030204" pitchFamily="34" charset="0"/>
                <a:cs typeface="Calibri" panose="020F0502020204030204" pitchFamily="34" charset="0"/>
              </a:rPr>
              <a:t>Model Comparison Table (Fit Metrics)</a:t>
            </a:r>
          </a:p>
        </p:txBody>
      </p:sp>
      <p:graphicFrame>
        <p:nvGraphicFramePr>
          <p:cNvPr id="2" name="Table 1">
            <a:extLst>
              <a:ext uri="{FF2B5EF4-FFF2-40B4-BE49-F238E27FC236}">
                <a16:creationId xmlns:a16="http://schemas.microsoft.com/office/drawing/2014/main" id="{72C172CB-7A24-1BD5-ABA2-2F0494C6E25F}"/>
              </a:ext>
            </a:extLst>
          </p:cNvPr>
          <p:cNvGraphicFramePr>
            <a:graphicFrameLocks noGrp="1"/>
          </p:cNvGraphicFramePr>
          <p:nvPr>
            <p:extLst>
              <p:ext uri="{D42A27DB-BD31-4B8C-83A1-F6EECF244321}">
                <p14:modId xmlns:p14="http://schemas.microsoft.com/office/powerpoint/2010/main" val="3718076413"/>
              </p:ext>
            </p:extLst>
          </p:nvPr>
        </p:nvGraphicFramePr>
        <p:xfrm>
          <a:off x="620485" y="2541157"/>
          <a:ext cx="8646886" cy="2194560"/>
        </p:xfrm>
        <a:graphic>
          <a:graphicData uri="http://schemas.openxmlformats.org/drawingml/2006/table">
            <a:tbl>
              <a:tblPr>
                <a:tableStyleId>{BC89EF96-8CEA-46FF-86C4-4CE0E7609802}</a:tableStyleId>
              </a:tblPr>
              <a:tblGrid>
                <a:gridCol w="2882296">
                  <a:extLst>
                    <a:ext uri="{9D8B030D-6E8A-4147-A177-3AD203B41FA5}">
                      <a16:colId xmlns:a16="http://schemas.microsoft.com/office/drawing/2014/main" val="2095369902"/>
                    </a:ext>
                  </a:extLst>
                </a:gridCol>
                <a:gridCol w="896450">
                  <a:extLst>
                    <a:ext uri="{9D8B030D-6E8A-4147-A177-3AD203B41FA5}">
                      <a16:colId xmlns:a16="http://schemas.microsoft.com/office/drawing/2014/main" val="3588529789"/>
                    </a:ext>
                  </a:extLst>
                </a:gridCol>
                <a:gridCol w="4868140">
                  <a:extLst>
                    <a:ext uri="{9D8B030D-6E8A-4147-A177-3AD203B41FA5}">
                      <a16:colId xmlns:a16="http://schemas.microsoft.com/office/drawing/2014/main" val="1850597662"/>
                    </a:ext>
                  </a:extLst>
                </a:gridCol>
              </a:tblGrid>
              <a:tr h="0">
                <a:tc>
                  <a:txBody>
                    <a:bodyPr/>
                    <a:lstStyle/>
                    <a:p>
                      <a:pPr>
                        <a:buNone/>
                      </a:pPr>
                      <a:r>
                        <a:rPr lang="en-US"/>
                        <a:t>Model</a:t>
                      </a:r>
                    </a:p>
                  </a:txBody>
                  <a:tcPr anchor="ctr"/>
                </a:tc>
                <a:tc>
                  <a:txBody>
                    <a:bodyPr/>
                    <a:lstStyle/>
                    <a:p>
                      <a:pPr>
                        <a:buNone/>
                      </a:pPr>
                      <a:r>
                        <a:rPr lang="en-US"/>
                        <a:t>RMSE</a:t>
                      </a:r>
                    </a:p>
                  </a:txBody>
                  <a:tcPr anchor="ctr"/>
                </a:tc>
                <a:tc>
                  <a:txBody>
                    <a:bodyPr/>
                    <a:lstStyle/>
                    <a:p>
                      <a:pPr>
                        <a:buNone/>
                      </a:pPr>
                      <a:r>
                        <a:rPr lang="en-US" dirty="0"/>
                        <a:t>MAE</a:t>
                      </a:r>
                    </a:p>
                  </a:txBody>
                  <a:tcPr anchor="ctr"/>
                </a:tc>
                <a:extLst>
                  <a:ext uri="{0D108BD9-81ED-4DB2-BD59-A6C34878D82A}">
                    <a16:rowId xmlns:a16="http://schemas.microsoft.com/office/drawing/2014/main" val="1324454559"/>
                  </a:ext>
                </a:extLst>
              </a:tr>
              <a:tr h="0">
                <a:tc>
                  <a:txBody>
                    <a:bodyPr/>
                    <a:lstStyle/>
                    <a:p>
                      <a:pPr>
                        <a:buNone/>
                      </a:pPr>
                      <a:r>
                        <a:rPr lang="en-US" b="1"/>
                        <a:t>OLS (Full Model)</a:t>
                      </a:r>
                      <a:endParaRPr lang="en-US"/>
                    </a:p>
                  </a:txBody>
                  <a:tcPr anchor="ctr"/>
                </a:tc>
                <a:tc>
                  <a:txBody>
                    <a:bodyPr/>
                    <a:lstStyle/>
                    <a:p>
                      <a:pPr>
                        <a:buNone/>
                      </a:pPr>
                      <a:r>
                        <a:rPr lang="en-US" b="1"/>
                        <a:t>144.11</a:t>
                      </a:r>
                      <a:endParaRPr lang="en-US"/>
                    </a:p>
                  </a:txBody>
                  <a:tcPr anchor="ctr"/>
                </a:tc>
                <a:tc>
                  <a:txBody>
                    <a:bodyPr/>
                    <a:lstStyle/>
                    <a:p>
                      <a:pPr>
                        <a:buNone/>
                      </a:pPr>
                      <a:r>
                        <a:rPr lang="en-US" b="1" dirty="0"/>
                        <a:t>99.46</a:t>
                      </a:r>
                      <a:endParaRPr lang="en-US" dirty="0"/>
                    </a:p>
                  </a:txBody>
                  <a:tcPr anchor="ctr"/>
                </a:tc>
                <a:extLst>
                  <a:ext uri="{0D108BD9-81ED-4DB2-BD59-A6C34878D82A}">
                    <a16:rowId xmlns:a16="http://schemas.microsoft.com/office/drawing/2014/main" val="949516154"/>
                  </a:ext>
                </a:extLst>
              </a:tr>
              <a:tr h="0">
                <a:tc>
                  <a:txBody>
                    <a:bodyPr/>
                    <a:lstStyle/>
                    <a:p>
                      <a:pPr>
                        <a:buNone/>
                      </a:pPr>
                      <a:r>
                        <a:rPr lang="en-US" b="1"/>
                        <a:t>OLS (Sampled Train/Test)</a:t>
                      </a:r>
                      <a:endParaRPr lang="en-US"/>
                    </a:p>
                  </a:txBody>
                  <a:tcPr anchor="ctr"/>
                </a:tc>
                <a:tc>
                  <a:txBody>
                    <a:bodyPr/>
                    <a:lstStyle/>
                    <a:p>
                      <a:pPr>
                        <a:buNone/>
                      </a:pPr>
                      <a:r>
                        <a:rPr lang="en-US" b="1"/>
                        <a:t>152.52</a:t>
                      </a:r>
                      <a:endParaRPr lang="en-US"/>
                    </a:p>
                  </a:txBody>
                  <a:tcPr anchor="ctr"/>
                </a:tc>
                <a:tc>
                  <a:txBody>
                    <a:bodyPr/>
                    <a:lstStyle/>
                    <a:p>
                      <a:pPr>
                        <a:buNone/>
                      </a:pPr>
                      <a:r>
                        <a:rPr lang="en-US" b="1" dirty="0"/>
                        <a:t>127.68</a:t>
                      </a:r>
                      <a:endParaRPr lang="en-US" dirty="0"/>
                    </a:p>
                  </a:txBody>
                  <a:tcPr anchor="ctr"/>
                </a:tc>
                <a:extLst>
                  <a:ext uri="{0D108BD9-81ED-4DB2-BD59-A6C34878D82A}">
                    <a16:rowId xmlns:a16="http://schemas.microsoft.com/office/drawing/2014/main" val="3506294796"/>
                  </a:ext>
                </a:extLst>
              </a:tr>
              <a:tr h="0">
                <a:tc>
                  <a:txBody>
                    <a:bodyPr/>
                    <a:lstStyle/>
                    <a:p>
                      <a:pPr>
                        <a:buNone/>
                      </a:pPr>
                      <a:r>
                        <a:rPr lang="en-US" b="1"/>
                        <a:t>Elastic Net</a:t>
                      </a:r>
                      <a:endParaRPr lang="en-US"/>
                    </a:p>
                  </a:txBody>
                  <a:tcPr anchor="ctr"/>
                </a:tc>
                <a:tc>
                  <a:txBody>
                    <a:bodyPr/>
                    <a:lstStyle/>
                    <a:p>
                      <a:pPr>
                        <a:buNone/>
                      </a:pPr>
                      <a:r>
                        <a:rPr lang="en-US" b="1"/>
                        <a:t>245.04</a:t>
                      </a:r>
                      <a:endParaRPr lang="en-US"/>
                    </a:p>
                  </a:txBody>
                  <a:tcPr anchor="ctr"/>
                </a:tc>
                <a:tc>
                  <a:txBody>
                    <a:bodyPr/>
                    <a:lstStyle/>
                    <a:p>
                      <a:pPr>
                        <a:buNone/>
                      </a:pPr>
                      <a:r>
                        <a:rPr lang="en-US" b="1" dirty="0"/>
                        <a:t>172.54</a:t>
                      </a:r>
                      <a:endParaRPr lang="en-US" dirty="0"/>
                    </a:p>
                  </a:txBody>
                  <a:tcPr anchor="ctr"/>
                </a:tc>
                <a:extLst>
                  <a:ext uri="{0D108BD9-81ED-4DB2-BD59-A6C34878D82A}">
                    <a16:rowId xmlns:a16="http://schemas.microsoft.com/office/drawing/2014/main" val="3211320120"/>
                  </a:ext>
                </a:extLst>
              </a:tr>
              <a:tr h="0">
                <a:tc>
                  <a:txBody>
                    <a:bodyPr/>
                    <a:lstStyle/>
                    <a:p>
                      <a:pPr>
                        <a:buNone/>
                      </a:pPr>
                      <a:r>
                        <a:rPr lang="en-US" b="1"/>
                        <a:t>Ridge (Test)</a:t>
                      </a:r>
                      <a:endParaRPr lang="en-US"/>
                    </a:p>
                  </a:txBody>
                  <a:tcPr anchor="ctr"/>
                </a:tc>
                <a:tc>
                  <a:txBody>
                    <a:bodyPr/>
                    <a:lstStyle/>
                    <a:p>
                      <a:pPr>
                        <a:buNone/>
                      </a:pPr>
                      <a:r>
                        <a:rPr lang="en-US" b="1"/>
                        <a:t>483.30</a:t>
                      </a:r>
                      <a:endParaRPr lang="en-US"/>
                    </a:p>
                  </a:txBody>
                  <a:tcPr anchor="ctr"/>
                </a:tc>
                <a:tc>
                  <a:txBody>
                    <a:bodyPr/>
                    <a:lstStyle/>
                    <a:p>
                      <a:pPr>
                        <a:buNone/>
                      </a:pPr>
                      <a:r>
                        <a:rPr lang="en-US" b="1" dirty="0"/>
                        <a:t>388.38</a:t>
                      </a:r>
                      <a:endParaRPr lang="en-US" dirty="0"/>
                    </a:p>
                  </a:txBody>
                  <a:tcPr anchor="ctr"/>
                </a:tc>
                <a:extLst>
                  <a:ext uri="{0D108BD9-81ED-4DB2-BD59-A6C34878D82A}">
                    <a16:rowId xmlns:a16="http://schemas.microsoft.com/office/drawing/2014/main" val="2069683645"/>
                  </a:ext>
                </a:extLst>
              </a:tr>
              <a:tr h="0">
                <a:tc>
                  <a:txBody>
                    <a:bodyPr/>
                    <a:lstStyle/>
                    <a:p>
                      <a:pPr>
                        <a:buNone/>
                      </a:pPr>
                      <a:r>
                        <a:rPr lang="en-US" b="1"/>
                        <a:t>LASSO (Test)</a:t>
                      </a:r>
                      <a:endParaRPr lang="en-US"/>
                    </a:p>
                  </a:txBody>
                  <a:tcPr anchor="ctr"/>
                </a:tc>
                <a:tc>
                  <a:txBody>
                    <a:bodyPr/>
                    <a:lstStyle/>
                    <a:p>
                      <a:pPr>
                        <a:buNone/>
                      </a:pPr>
                      <a:r>
                        <a:rPr lang="en-US" b="1"/>
                        <a:t>363.41</a:t>
                      </a:r>
                      <a:endParaRPr lang="en-US"/>
                    </a:p>
                  </a:txBody>
                  <a:tcPr anchor="ctr"/>
                </a:tc>
                <a:tc>
                  <a:txBody>
                    <a:bodyPr/>
                    <a:lstStyle/>
                    <a:p>
                      <a:pPr>
                        <a:buNone/>
                      </a:pPr>
                      <a:r>
                        <a:rPr lang="en-US" b="1" dirty="0"/>
                        <a:t>248.77</a:t>
                      </a:r>
                      <a:endParaRPr lang="en-US" dirty="0"/>
                    </a:p>
                  </a:txBody>
                  <a:tcPr anchor="ctr"/>
                </a:tc>
                <a:extLst>
                  <a:ext uri="{0D108BD9-81ED-4DB2-BD59-A6C34878D82A}">
                    <a16:rowId xmlns:a16="http://schemas.microsoft.com/office/drawing/2014/main" val="1150411191"/>
                  </a:ext>
                </a:extLst>
              </a:tr>
            </a:tbl>
          </a:graphicData>
        </a:graphic>
      </p:graphicFrame>
      <p:pic>
        <p:nvPicPr>
          <p:cNvPr id="6" name="Picture 5" descr="A graph of blue and orange bars&#10;&#10;AI-generated content may be incorrect.">
            <a:extLst>
              <a:ext uri="{FF2B5EF4-FFF2-40B4-BE49-F238E27FC236}">
                <a16:creationId xmlns:a16="http://schemas.microsoft.com/office/drawing/2014/main" id="{D9730737-4C03-F5FF-F4A5-BEA466DC267D}"/>
              </a:ext>
            </a:extLst>
          </p:cNvPr>
          <p:cNvPicPr>
            <a:picLocks noChangeAspect="1"/>
          </p:cNvPicPr>
          <p:nvPr/>
        </p:nvPicPr>
        <p:blipFill>
          <a:blip r:embed="rId3"/>
          <a:stretch>
            <a:fillRect/>
          </a:stretch>
        </p:blipFill>
        <p:spPr>
          <a:xfrm>
            <a:off x="5791153" y="1510451"/>
            <a:ext cx="6400847" cy="4572033"/>
          </a:xfrm>
          <a:prstGeom prst="rect">
            <a:avLst/>
          </a:prstGeom>
        </p:spPr>
      </p:pic>
    </p:spTree>
    <p:extLst>
      <p:ext uri="{BB962C8B-B14F-4D97-AF65-F5344CB8AC3E}">
        <p14:creationId xmlns:p14="http://schemas.microsoft.com/office/powerpoint/2010/main" val="2864473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6B9B0A4-24CC-F1CA-CA1C-1BD4C9C390D1}"/>
              </a:ext>
            </a:extLst>
          </p:cNvPr>
          <p:cNvPicPr>
            <a:picLocks noChangeAspect="1"/>
          </p:cNvPicPr>
          <p:nvPr/>
        </p:nvPicPr>
        <p:blipFill>
          <a:blip r:embed="rId3"/>
          <a:stretch>
            <a:fillRect/>
          </a:stretch>
        </p:blipFill>
        <p:spPr>
          <a:xfrm>
            <a:off x="304634" y="326890"/>
            <a:ext cx="7622504" cy="5444645"/>
          </a:xfrm>
          <a:prstGeom prst="rect">
            <a:avLst/>
          </a:prstGeom>
        </p:spPr>
      </p:pic>
      <p:sp>
        <p:nvSpPr>
          <p:cNvPr id="5" name="TextBox 4">
            <a:extLst>
              <a:ext uri="{FF2B5EF4-FFF2-40B4-BE49-F238E27FC236}">
                <a16:creationId xmlns:a16="http://schemas.microsoft.com/office/drawing/2014/main" id="{BA54426B-BC47-B7D2-46E3-36D7F3092C1F}"/>
              </a:ext>
            </a:extLst>
          </p:cNvPr>
          <p:cNvSpPr txBox="1"/>
          <p:nvPr/>
        </p:nvSpPr>
        <p:spPr>
          <a:xfrm>
            <a:off x="5466736" y="4795483"/>
            <a:ext cx="6882581" cy="1569660"/>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Model explains ≈97% of variation in sales per </a:t>
            </a:r>
            <a:r>
              <a:rPr lang="en-US" sz="2400" dirty="0" err="1">
                <a:latin typeface="Calibri" panose="020F0502020204030204" pitchFamily="34" charset="0"/>
                <a:ea typeface="Calibri" panose="020F0502020204030204" pitchFamily="34" charset="0"/>
                <a:cs typeface="Calibri" panose="020F0502020204030204" pitchFamily="34" charset="0"/>
              </a:rPr>
              <a:t>SqFt</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Above the line → outperforming expectations</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Below the line → underperforming expectations</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Establishes an objective performance benchmark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7E3BBE1-0B35-A843-2075-3E98DE7BED8B}"/>
              </a:ext>
            </a:extLst>
          </p:cNvPr>
          <p:cNvPicPr>
            <a:picLocks noChangeAspect="1"/>
          </p:cNvPicPr>
          <p:nvPr/>
        </p:nvPicPr>
        <p:blipFill>
          <a:blip r:embed="rId3"/>
          <a:stretch>
            <a:fillRect/>
          </a:stretch>
        </p:blipFill>
        <p:spPr>
          <a:xfrm>
            <a:off x="526003" y="243685"/>
            <a:ext cx="8214874" cy="5867766"/>
          </a:xfrm>
          <a:prstGeom prst="rect">
            <a:avLst/>
          </a:prstGeom>
        </p:spPr>
      </p:pic>
      <p:sp>
        <p:nvSpPr>
          <p:cNvPr id="5" name="TextBox 4">
            <a:extLst>
              <a:ext uri="{FF2B5EF4-FFF2-40B4-BE49-F238E27FC236}">
                <a16:creationId xmlns:a16="http://schemas.microsoft.com/office/drawing/2014/main" id="{4C333748-CB8B-B1EA-B700-8F3C41D2B500}"/>
              </a:ext>
            </a:extLst>
          </p:cNvPr>
          <p:cNvSpPr txBox="1"/>
          <p:nvPr/>
        </p:nvSpPr>
        <p:spPr>
          <a:xfrm>
            <a:off x="7093997" y="3936659"/>
            <a:ext cx="4980016" cy="2677656"/>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Clear separation of true over- and under-performance</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Montrose: high revenue ≠ high efficiency</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Significant unrealized value in several top stores</a:t>
            </a:r>
          </a:p>
          <a:p>
            <a:pPr marL="285750" indent="-285750">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B85404C-E897-0E71-5E9C-0EC67E8DECBD}"/>
              </a:ext>
            </a:extLst>
          </p:cNvPr>
          <p:cNvPicPr>
            <a:picLocks noChangeAspect="1"/>
          </p:cNvPicPr>
          <p:nvPr/>
        </p:nvPicPr>
        <p:blipFill>
          <a:blip r:embed="rId3"/>
          <a:stretch>
            <a:fillRect/>
          </a:stretch>
        </p:blipFill>
        <p:spPr>
          <a:xfrm>
            <a:off x="663045" y="317075"/>
            <a:ext cx="8310738" cy="5936241"/>
          </a:xfrm>
          <a:prstGeom prst="rect">
            <a:avLst/>
          </a:prstGeom>
        </p:spPr>
      </p:pic>
      <p:sp>
        <p:nvSpPr>
          <p:cNvPr id="7" name="TextBox 6">
            <a:extLst>
              <a:ext uri="{FF2B5EF4-FFF2-40B4-BE49-F238E27FC236}">
                <a16:creationId xmlns:a16="http://schemas.microsoft.com/office/drawing/2014/main" id="{376216E7-D391-B373-C126-3BE570BAFA4D}"/>
              </a:ext>
            </a:extLst>
          </p:cNvPr>
          <p:cNvSpPr txBox="1"/>
          <p:nvPr/>
        </p:nvSpPr>
        <p:spPr>
          <a:xfrm>
            <a:off x="6735097" y="4601933"/>
            <a:ext cx="5555225" cy="1938992"/>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Bootstrapped means: </a:t>
            </a:r>
            <a:r>
              <a:rPr lang="en-US" sz="2400" b="1" dirty="0">
                <a:latin typeface="Calibri" panose="020F0502020204030204" pitchFamily="34" charset="0"/>
                <a:ea typeface="Calibri" panose="020F0502020204030204" pitchFamily="34" charset="0"/>
                <a:cs typeface="Calibri" panose="020F0502020204030204" pitchFamily="34" charset="0"/>
              </a:rPr>
              <a:t>~$2,200 vs ~$900</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Confidence intervals do not overlap</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High/High stores are genuinely stronger</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Confirms quadrant segmentation is statistically robust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FA54B-836C-D719-B8BE-C054144A2B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9AE2C9-BAB3-0596-413F-286720FF4236}"/>
              </a:ext>
            </a:extLst>
          </p:cNvPr>
          <p:cNvSpPr>
            <a:spLocks noGrp="1"/>
          </p:cNvSpPr>
          <p:nvPr>
            <p:ph type="ctrTitle"/>
          </p:nvPr>
        </p:nvSpPr>
        <p:spPr>
          <a:xfrm>
            <a:off x="8077200" y="378252"/>
            <a:ext cx="3490452" cy="1386690"/>
          </a:xfrm>
        </p:spPr>
        <p:txBody>
          <a:bodyPr anchor="ctr"/>
          <a:lstStyle/>
          <a:p>
            <a:r>
              <a:rPr lang="en-US" b="1" dirty="0">
                <a:latin typeface="Calibri" panose="020F0502020204030204" pitchFamily="34" charset="0"/>
                <a:ea typeface="Calibri" panose="020F0502020204030204" pitchFamily="34" charset="0"/>
                <a:cs typeface="Calibri" panose="020F0502020204030204" pitchFamily="34" charset="0"/>
              </a:rPr>
              <a:t>Key Insights</a:t>
            </a:r>
          </a:p>
        </p:txBody>
      </p:sp>
      <p:sp>
        <p:nvSpPr>
          <p:cNvPr id="5" name="Title 1">
            <a:extLst>
              <a:ext uri="{FF2B5EF4-FFF2-40B4-BE49-F238E27FC236}">
                <a16:creationId xmlns:a16="http://schemas.microsoft.com/office/drawing/2014/main" id="{D27B1CCA-4C9B-5646-84B8-4881D9E5E09F}"/>
              </a:ext>
            </a:extLst>
          </p:cNvPr>
          <p:cNvSpPr txBox="1">
            <a:spLocks/>
          </p:cNvSpPr>
          <p:nvPr/>
        </p:nvSpPr>
        <p:spPr>
          <a:xfrm>
            <a:off x="127819" y="2698664"/>
            <a:ext cx="11936361" cy="3781083"/>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285750" indent="-285750" algn="l">
              <a:buFont typeface="Arial" panose="020B0604020202020204" pitchFamily="34" charset="0"/>
              <a:buChar char="•"/>
            </a:pPr>
            <a:r>
              <a:rPr lang="en-US" sz="2800" dirty="0">
                <a:highlight>
                  <a:srgbClr val="FFFFFF"/>
                </a:highlight>
              </a:rPr>
              <a:t>Traffic intensity is the strongest driver of performance</a:t>
            </a:r>
          </a:p>
          <a:p>
            <a:pPr marL="285750" indent="-285750" algn="l">
              <a:buFont typeface="Arial" panose="020B0604020202020204" pitchFamily="34" charset="0"/>
              <a:buChar char="•"/>
            </a:pPr>
            <a:r>
              <a:rPr lang="en-US" sz="2800" dirty="0">
                <a:highlight>
                  <a:srgbClr val="FFFFFF"/>
                </a:highlight>
              </a:rPr>
              <a:t>Basket density + category mix determine revenue efficiency</a:t>
            </a:r>
          </a:p>
          <a:p>
            <a:pPr marL="285750" indent="-285750" algn="l">
              <a:buFont typeface="Arial" panose="020B0604020202020204" pitchFamily="34" charset="0"/>
              <a:buChar char="•"/>
            </a:pPr>
            <a:r>
              <a:rPr lang="en-US" sz="2800" dirty="0">
                <a:highlight>
                  <a:srgbClr val="FFFFFF"/>
                </a:highlight>
              </a:rPr>
              <a:t>Demographics provide little explanatory power</a:t>
            </a:r>
          </a:p>
          <a:p>
            <a:pPr marL="285750" indent="-285750" algn="l">
              <a:buFont typeface="Arial" panose="020B0604020202020204" pitchFamily="34" charset="0"/>
              <a:buChar char="•"/>
            </a:pPr>
            <a:r>
              <a:rPr lang="en-US" sz="2800" dirty="0">
                <a:highlight>
                  <a:srgbClr val="FFFFFF"/>
                </a:highlight>
              </a:rPr>
              <a:t>Quadrants reveal stable behavioral patterns across stores</a:t>
            </a:r>
          </a:p>
          <a:p>
            <a:pPr marL="285750" indent="-285750" algn="l">
              <a:buFont typeface="Arial" panose="020B0604020202020204" pitchFamily="34" charset="0"/>
              <a:buChar char="•"/>
            </a:pPr>
            <a:r>
              <a:rPr lang="en-US" sz="2800" dirty="0">
                <a:highlight>
                  <a:srgbClr val="FFFFFF"/>
                </a:highlight>
              </a:rPr>
              <a:t>OLS residuals expose hidden underperformance</a:t>
            </a:r>
          </a:p>
          <a:p>
            <a:pPr marL="285750" indent="-285750" algn="l">
              <a:buFont typeface="Arial" panose="020B0604020202020204" pitchFamily="34" charset="0"/>
              <a:buChar char="•"/>
            </a:pPr>
            <a:r>
              <a:rPr lang="en-US" sz="2800" dirty="0">
                <a:highlight>
                  <a:srgbClr val="FFFFFF"/>
                </a:highlight>
              </a:rPr>
              <a:t>Bootstrapping confirms differences are statistically significant</a:t>
            </a:r>
          </a:p>
          <a:p>
            <a:pPr marL="285750" indent="-285750" algn="l">
              <a:buFont typeface="Arial" panose="020B0604020202020204" pitchFamily="34" charset="0"/>
              <a:buChar char="•"/>
            </a:pPr>
            <a:r>
              <a:rPr lang="en-US" sz="2800" dirty="0">
                <a:highlight>
                  <a:srgbClr val="FFFFFF"/>
                </a:highlight>
              </a:rPr>
              <a:t>Foundation for targeted, store-specific operational improvements</a:t>
            </a:r>
          </a:p>
        </p:txBody>
      </p:sp>
    </p:spTree>
    <p:extLst>
      <p:ext uri="{BB962C8B-B14F-4D97-AF65-F5344CB8AC3E}">
        <p14:creationId xmlns:p14="http://schemas.microsoft.com/office/powerpoint/2010/main" val="316888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C86B3-82B0-CE01-93AE-3F34E2A08D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933600-F5C5-CF26-7CD4-5CBD99315A56}"/>
              </a:ext>
            </a:extLst>
          </p:cNvPr>
          <p:cNvSpPr>
            <a:spLocks noGrp="1"/>
          </p:cNvSpPr>
          <p:nvPr>
            <p:ph type="title"/>
          </p:nvPr>
        </p:nvSpPr>
        <p:spPr>
          <a:xfrm>
            <a:off x="359228" y="432616"/>
            <a:ext cx="5736772" cy="1325563"/>
          </a:xfrm>
        </p:spPr>
        <p:txBody>
          <a:bodyPr>
            <a:no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Recommendation</a:t>
            </a:r>
          </a:p>
        </p:txBody>
      </p:sp>
      <p:sp>
        <p:nvSpPr>
          <p:cNvPr id="3" name="Content Placeholder 2">
            <a:extLst>
              <a:ext uri="{FF2B5EF4-FFF2-40B4-BE49-F238E27FC236}">
                <a16:creationId xmlns:a16="http://schemas.microsoft.com/office/drawing/2014/main" id="{930590CD-492A-6C63-DE03-0F00071D62F7}"/>
              </a:ext>
            </a:extLst>
          </p:cNvPr>
          <p:cNvSpPr>
            <a:spLocks noGrp="1"/>
          </p:cNvSpPr>
          <p:nvPr>
            <p:ph idx="1"/>
          </p:nvPr>
        </p:nvSpPr>
        <p:spPr>
          <a:xfrm>
            <a:off x="359228" y="2764718"/>
            <a:ext cx="11724618" cy="3852391"/>
          </a:xfrm>
        </p:spPr>
        <p:txBody>
          <a:bodyPr>
            <a:noAutofit/>
          </a:bodyPr>
          <a:lstStyle/>
          <a:p>
            <a:r>
              <a:rPr lang="en-US" sz="2400" dirty="0">
                <a:highlight>
                  <a:srgbClr val="000000"/>
                </a:highlight>
              </a:rPr>
              <a:t>Boost traffic where it is weak; raise basket value where it underperforms</a:t>
            </a:r>
            <a:br>
              <a:rPr lang="en-US" sz="2400" dirty="0">
                <a:highlight>
                  <a:srgbClr val="000000"/>
                </a:highlight>
              </a:rPr>
            </a:br>
            <a:r>
              <a:rPr lang="en-US" sz="2400" dirty="0">
                <a:highlight>
                  <a:srgbClr val="000000"/>
                </a:highlight>
              </a:rPr>
              <a:t>Use quadrant positions to target the highest-impact lever at each store</a:t>
            </a:r>
            <a:br>
              <a:rPr lang="en-US" sz="2400" dirty="0">
                <a:highlight>
                  <a:srgbClr val="000000"/>
                </a:highlight>
              </a:rPr>
            </a:br>
            <a:r>
              <a:rPr lang="en-US" sz="2400" dirty="0">
                <a:highlight>
                  <a:srgbClr val="000000"/>
                </a:highlight>
              </a:rPr>
              <a:t>Tighten replenishment and align ordering with observed buying patterns</a:t>
            </a:r>
            <a:br>
              <a:rPr lang="en-US" sz="2400" dirty="0">
                <a:highlight>
                  <a:srgbClr val="000000"/>
                </a:highlight>
              </a:rPr>
            </a:br>
            <a:r>
              <a:rPr lang="en-US" sz="2400" dirty="0">
                <a:highlight>
                  <a:srgbClr val="000000"/>
                </a:highlight>
              </a:rPr>
              <a:t>Reduce long-tail SKUs to increase efficiency and improve shopper navigation</a:t>
            </a:r>
            <a:br>
              <a:rPr lang="en-US" sz="2400" dirty="0">
                <a:highlight>
                  <a:srgbClr val="000000"/>
                </a:highlight>
              </a:rPr>
            </a:br>
            <a:r>
              <a:rPr lang="en-US" sz="2400" dirty="0">
                <a:highlight>
                  <a:srgbClr val="000000"/>
                </a:highlight>
              </a:rPr>
              <a:t>Tailor promotions to quadrant type: </a:t>
            </a:r>
            <a:r>
              <a:rPr lang="en-US" sz="2400" i="1" dirty="0">
                <a:highlight>
                  <a:srgbClr val="000000"/>
                </a:highlight>
              </a:rPr>
              <a:t>premium pushes</a:t>
            </a:r>
            <a:r>
              <a:rPr lang="en-US" sz="2400" dirty="0">
                <a:highlight>
                  <a:srgbClr val="000000"/>
                </a:highlight>
              </a:rPr>
              <a:t> for high-traffic stores, </a:t>
            </a:r>
            <a:r>
              <a:rPr lang="en-US" sz="2400" i="1" dirty="0">
                <a:highlight>
                  <a:srgbClr val="000000"/>
                </a:highlight>
              </a:rPr>
              <a:t>traffic builders</a:t>
            </a:r>
            <a:r>
              <a:rPr lang="en-US" sz="2400" dirty="0">
                <a:highlight>
                  <a:srgbClr val="000000"/>
                </a:highlight>
              </a:rPr>
              <a:t> for low-traffic stores</a:t>
            </a:r>
            <a:br>
              <a:rPr lang="en-US" sz="2400" dirty="0">
                <a:highlight>
                  <a:srgbClr val="000000"/>
                </a:highlight>
              </a:rPr>
            </a:br>
            <a:r>
              <a:rPr lang="en-US" sz="2400" dirty="0">
                <a:highlight>
                  <a:srgbClr val="000000"/>
                </a:highlight>
              </a:rPr>
              <a:t>Use the KPI monitoring framework for continuous, data-driven oversight</a:t>
            </a:r>
          </a:p>
        </p:txBody>
      </p:sp>
      <p:sp>
        <p:nvSpPr>
          <p:cNvPr id="5" name="Slide Number Placeholder 5">
            <a:extLst>
              <a:ext uri="{FF2B5EF4-FFF2-40B4-BE49-F238E27FC236}">
                <a16:creationId xmlns:a16="http://schemas.microsoft.com/office/drawing/2014/main" id="{35076697-2584-96B1-8309-2F532BDF597F}"/>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20</a:t>
            </a:fld>
            <a:endParaRPr lang="en-US" dirty="0"/>
          </a:p>
        </p:txBody>
      </p:sp>
    </p:spTree>
    <p:extLst>
      <p:ext uri="{BB962C8B-B14F-4D97-AF65-F5344CB8AC3E}">
        <p14:creationId xmlns:p14="http://schemas.microsoft.com/office/powerpoint/2010/main" val="4223074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B626B-6F1B-0CA7-D606-18BB026C54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84470A-53E2-57CE-3286-F28FC78A0ED7}"/>
              </a:ext>
            </a:extLst>
          </p:cNvPr>
          <p:cNvSpPr>
            <a:spLocks noGrp="1"/>
          </p:cNvSpPr>
          <p:nvPr>
            <p:ph type="ctrTitle"/>
          </p:nvPr>
        </p:nvSpPr>
        <p:spPr>
          <a:xfrm>
            <a:off x="6850743" y="378252"/>
            <a:ext cx="4716909" cy="1386690"/>
          </a:xfrm>
        </p:spPr>
        <p:txBody>
          <a:bodyPr anchor="ctr"/>
          <a:lstStyle/>
          <a:p>
            <a:r>
              <a:rPr lang="en-US" b="1" dirty="0">
                <a:latin typeface="Calibri" panose="020F0502020204030204" pitchFamily="34" charset="0"/>
                <a:ea typeface="Calibri" panose="020F0502020204030204" pitchFamily="34" charset="0"/>
                <a:cs typeface="Calibri" panose="020F0502020204030204" pitchFamily="34" charset="0"/>
              </a:rPr>
              <a:t>acknowledgment</a:t>
            </a:r>
            <a:r>
              <a:rPr lang="en-US" dirty="0">
                <a:latin typeface="Calibri" panose="020F0502020204030204" pitchFamily="34" charset="0"/>
                <a:ea typeface="Calibri" panose="020F0502020204030204" pitchFamily="34" charset="0"/>
                <a:cs typeface="Calibri" panose="020F0502020204030204" pitchFamily="34" charset="0"/>
              </a:rPr>
              <a:t> </a:t>
            </a:r>
            <a:endParaRPr lang="en-US" b="1" dirty="0">
              <a:latin typeface="Calibri" panose="020F0502020204030204" pitchFamily="34" charset="0"/>
              <a:ea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7E094365-4EA8-AA01-585D-925B96489C89}"/>
              </a:ext>
            </a:extLst>
          </p:cNvPr>
          <p:cNvSpPr txBox="1">
            <a:spLocks/>
          </p:cNvSpPr>
          <p:nvPr/>
        </p:nvSpPr>
        <p:spPr>
          <a:xfrm>
            <a:off x="127819" y="1886858"/>
            <a:ext cx="11936361" cy="459289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457200" indent="-457200" algn="l">
              <a:buFont typeface="Arial" panose="020B0604020202020204" pitchFamily="34" charset="0"/>
              <a:buChar char="•"/>
            </a:pPr>
            <a:r>
              <a:rPr lang="en-US" sz="2400" b="1" dirty="0">
                <a:highlight>
                  <a:srgbClr val="FFFFFF"/>
                </a:highlight>
              </a:rPr>
              <a:t>The ABS team</a:t>
            </a:r>
            <a:r>
              <a:rPr lang="en-US" sz="2400" dirty="0">
                <a:highlight>
                  <a:srgbClr val="FFFFFF"/>
                </a:highlight>
              </a:rPr>
              <a:t> for meeting with me weekly, helping me understand the dataset, and making sure I stayed on the right analytical path.</a:t>
            </a:r>
          </a:p>
          <a:p>
            <a:pPr marL="457200" indent="-457200" algn="l">
              <a:buFont typeface="Arial" panose="020B0604020202020204" pitchFamily="34" charset="0"/>
              <a:buChar char="•"/>
            </a:pPr>
            <a:r>
              <a:rPr lang="en-US" sz="2400" b="1" dirty="0">
                <a:highlight>
                  <a:srgbClr val="FFFFFF"/>
                </a:highlight>
              </a:rPr>
              <a:t>The Data Montgomery team</a:t>
            </a:r>
            <a:r>
              <a:rPr lang="en-US" sz="2400" dirty="0">
                <a:highlight>
                  <a:srgbClr val="FFFFFF"/>
                </a:highlight>
              </a:rPr>
              <a:t> for coordinating meetings, supporting communication, and helping identify supplementary datasets—even the ones we ultimately didn’t need.</a:t>
            </a:r>
          </a:p>
          <a:p>
            <a:pPr marL="457200" indent="-457200" algn="l">
              <a:buFont typeface="Arial" panose="020B0604020202020204" pitchFamily="34" charset="0"/>
              <a:buChar char="•"/>
            </a:pPr>
            <a:r>
              <a:rPr lang="en-US" sz="2400" b="1" dirty="0">
                <a:highlight>
                  <a:srgbClr val="FFFFFF"/>
                </a:highlight>
              </a:rPr>
              <a:t>Prof. Lori Perine</a:t>
            </a:r>
            <a:r>
              <a:rPr lang="en-US" sz="2400" dirty="0">
                <a:highlight>
                  <a:srgbClr val="FFFFFF"/>
                </a:highlight>
              </a:rPr>
              <a:t> for her guidance on how to advance and refine my modeling approach.</a:t>
            </a:r>
          </a:p>
          <a:p>
            <a:pPr marL="457200" indent="-457200" algn="l">
              <a:buFont typeface="Arial" panose="020B0604020202020204" pitchFamily="34" charset="0"/>
              <a:buChar char="•"/>
            </a:pPr>
            <a:r>
              <a:rPr lang="en-US" sz="2400" b="1" dirty="0">
                <a:highlight>
                  <a:srgbClr val="FFFFFF"/>
                </a:highlight>
              </a:rPr>
              <a:t>My teammate Andre</a:t>
            </a:r>
            <a:r>
              <a:rPr lang="en-US" sz="2400" dirty="0">
                <a:highlight>
                  <a:srgbClr val="FFFFFF"/>
                </a:highlight>
              </a:rPr>
              <a:t>, whose thoughtful input consistently sharpened my reasoning and guided my analytical decisions.</a:t>
            </a:r>
          </a:p>
        </p:txBody>
      </p:sp>
    </p:spTree>
    <p:extLst>
      <p:ext uri="{BB962C8B-B14F-4D97-AF65-F5344CB8AC3E}">
        <p14:creationId xmlns:p14="http://schemas.microsoft.com/office/powerpoint/2010/main" val="2943399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A90EE-A8F1-F764-A185-B7B53175D9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428419-2332-D789-8C63-BCD3D1D9ECDE}"/>
              </a:ext>
            </a:extLst>
          </p:cNvPr>
          <p:cNvSpPr>
            <a:spLocks noGrp="1"/>
          </p:cNvSpPr>
          <p:nvPr>
            <p:ph type="ctrTitle"/>
          </p:nvPr>
        </p:nvSpPr>
        <p:spPr>
          <a:xfrm>
            <a:off x="5699576" y="3429000"/>
            <a:ext cx="5663293" cy="1284457"/>
          </a:xfrm>
        </p:spPr>
        <p:txBody>
          <a:bodyPr/>
          <a:lstStyle/>
          <a:p>
            <a:r>
              <a:rPr lang="en-US" sz="6000" b="1" dirty="0">
                <a:latin typeface="Calibri" panose="020F0502020204030204" pitchFamily="34" charset="0"/>
                <a:ea typeface="Calibri" panose="020F0502020204030204" pitchFamily="34" charset="0"/>
                <a:cs typeface="Calibri" panose="020F0502020204030204" pitchFamily="34" charset="0"/>
              </a:rPr>
              <a:t>Thank you</a:t>
            </a:r>
            <a:endParaRPr lang="en-US" sz="6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46993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5859-10C9-4588-9727-B9362E26C29D}"/>
              </a:ext>
            </a:extLst>
          </p:cNvPr>
          <p:cNvSpPr>
            <a:spLocks noGrp="1"/>
          </p:cNvSpPr>
          <p:nvPr>
            <p:ph type="title"/>
          </p:nvPr>
        </p:nvSpPr>
        <p:spPr>
          <a:xfrm>
            <a:off x="359228" y="432616"/>
            <a:ext cx="5736772" cy="1325563"/>
          </a:xfrm>
        </p:spPr>
        <p:txBody>
          <a:bodyPr>
            <a:noAutofit/>
          </a:bodyPr>
          <a:lstStyle/>
          <a:p>
            <a:r>
              <a:rPr lang="en-US" sz="3600" b="1" dirty="0"/>
              <a:t>ABS Mission &amp; Why This Analysis Matters</a:t>
            </a:r>
            <a:endParaRPr lang="en-US" sz="3600" dirty="0"/>
          </a:p>
        </p:txBody>
      </p:sp>
      <p:sp>
        <p:nvSpPr>
          <p:cNvPr id="3" name="Content Placeholder 2">
            <a:extLst>
              <a:ext uri="{FF2B5EF4-FFF2-40B4-BE49-F238E27FC236}">
                <a16:creationId xmlns:a16="http://schemas.microsoft.com/office/drawing/2014/main" id="{5671D7E5-EF66-4BCD-8DAA-E9061157F0BE}"/>
              </a:ext>
            </a:extLst>
          </p:cNvPr>
          <p:cNvSpPr>
            <a:spLocks noGrp="1"/>
          </p:cNvSpPr>
          <p:nvPr>
            <p:ph idx="1"/>
          </p:nvPr>
        </p:nvSpPr>
        <p:spPr>
          <a:xfrm>
            <a:off x="359228" y="3738318"/>
            <a:ext cx="8398328" cy="1862382"/>
          </a:xfrm>
        </p:spPr>
        <p:txBody>
          <a:bodyPr>
            <a:noAutofit/>
          </a:bodyPr>
          <a:lstStyle/>
          <a:p>
            <a:pPr lvl="0" eaLnBrk="0" fontAlgn="base" hangingPunct="0">
              <a:lnSpc>
                <a:spcPct val="100000"/>
              </a:lnSpc>
              <a:spcBef>
                <a:spcPct val="0"/>
              </a:spcBef>
              <a:spcAft>
                <a:spcPct val="0"/>
              </a:spcAft>
              <a:buFontTx/>
              <a:buChar char="•"/>
            </a:pPr>
            <a:r>
              <a:rPr lang="en-US" altLang="en-US" sz="3200" dirty="0">
                <a:highlight>
                  <a:srgbClr val="000000"/>
                </a:highlight>
                <a:latin typeface="Arial" panose="020B0604020202020204" pitchFamily="34" charset="0"/>
              </a:rPr>
              <a:t>Dual mandate: public safety + profit</a:t>
            </a:r>
          </a:p>
          <a:p>
            <a:pPr lvl="0" eaLnBrk="0" fontAlgn="base" hangingPunct="0">
              <a:lnSpc>
                <a:spcPct val="100000"/>
              </a:lnSpc>
              <a:spcBef>
                <a:spcPct val="0"/>
              </a:spcBef>
              <a:spcAft>
                <a:spcPct val="0"/>
              </a:spcAft>
              <a:buFontTx/>
              <a:buChar char="•"/>
            </a:pPr>
            <a:r>
              <a:rPr lang="en-US" altLang="en-US" sz="3200" dirty="0">
                <a:highlight>
                  <a:srgbClr val="000000"/>
                </a:highlight>
                <a:latin typeface="Arial" panose="020B0604020202020204" pitchFamily="34" charset="0"/>
              </a:rPr>
              <a:t>Store variation influences county revenue</a:t>
            </a:r>
          </a:p>
          <a:p>
            <a:pPr lvl="0" eaLnBrk="0" fontAlgn="base" hangingPunct="0">
              <a:lnSpc>
                <a:spcPct val="100000"/>
              </a:lnSpc>
              <a:spcBef>
                <a:spcPct val="0"/>
              </a:spcBef>
              <a:spcAft>
                <a:spcPct val="0"/>
              </a:spcAft>
              <a:buFontTx/>
              <a:buChar char="•"/>
            </a:pPr>
            <a:r>
              <a:rPr lang="en-US" altLang="en-US" sz="3200" dirty="0">
                <a:highlight>
                  <a:srgbClr val="000000"/>
                </a:highlight>
                <a:latin typeface="Arial" panose="020B0604020202020204" pitchFamily="34" charset="0"/>
              </a:rPr>
              <a:t>Better decisions require accurate metrics</a:t>
            </a:r>
          </a:p>
        </p:txBody>
      </p:sp>
      <p:sp>
        <p:nvSpPr>
          <p:cNvPr id="5" name="Slide Number Placeholder 5">
            <a:extLst>
              <a:ext uri="{FF2B5EF4-FFF2-40B4-BE49-F238E27FC236}">
                <a16:creationId xmlns:a16="http://schemas.microsoft.com/office/drawing/2014/main" id="{B02A8827-B1A1-2D2F-D6DD-E886B886C43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23</a:t>
            </a:fld>
            <a:endParaRPr lang="en-US" dirty="0"/>
          </a:p>
        </p:txBody>
      </p:sp>
    </p:spTree>
    <p:extLst>
      <p:ext uri="{BB962C8B-B14F-4D97-AF65-F5344CB8AC3E}">
        <p14:creationId xmlns:p14="http://schemas.microsoft.com/office/powerpoint/2010/main" val="1713219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944268F6-A361-9907-F87F-9C4377ECAE6D}"/>
              </a:ext>
              <a:ext uri="{C183D7F6-B498-43B3-948B-1728B52AA6E4}">
                <adec:decorative xmlns:adec="http://schemas.microsoft.com/office/drawing/2017/decorative" val="1"/>
              </a:ext>
            </a:extLst>
          </p:cNvPr>
          <p:cNvCxnSpPr>
            <a:cxnSpLocks/>
          </p:cNvCxnSpPr>
          <p:nvPr/>
        </p:nvCxnSpPr>
        <p:spPr>
          <a:xfrm flipH="1" flipV="1">
            <a:off x="0" y="254643"/>
            <a:ext cx="6096000" cy="8557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Picture Placeholder 3">
            <a:extLst>
              <a:ext uri="{FF2B5EF4-FFF2-40B4-BE49-F238E27FC236}">
                <a16:creationId xmlns:a16="http://schemas.microsoft.com/office/drawing/2014/main" id="{D2851197-0C07-117D-D1A3-0D7613968904}"/>
              </a:ext>
            </a:extLst>
          </p:cNvPr>
          <p:cNvSpPr>
            <a:spLocks noGrp="1"/>
          </p:cNvSpPr>
          <p:nvPr>
            <p:ph type="pic" sz="quarter" idx="10"/>
          </p:nvPr>
        </p:nvSpPr>
        <p:spPr>
          <a:xfrm>
            <a:off x="0" y="-5080"/>
            <a:ext cx="12192000" cy="6872605"/>
          </a:xfrm>
          <a:solidFill>
            <a:schemeClr val="bg1"/>
          </a:solidFill>
        </p:spPr>
        <p:txBody>
          <a:bodyPr/>
          <a:lstStyle/>
          <a:p>
            <a:endParaRPr lang="en-US"/>
          </a:p>
        </p:txBody>
      </p:sp>
      <p:pic>
        <p:nvPicPr>
          <p:cNvPr id="6" name="Picture 5">
            <a:extLst>
              <a:ext uri="{FF2B5EF4-FFF2-40B4-BE49-F238E27FC236}">
                <a16:creationId xmlns:a16="http://schemas.microsoft.com/office/drawing/2014/main" id="{FAD1DA47-A4F1-1F18-5099-EA8979EE0DD3}"/>
              </a:ext>
            </a:extLst>
          </p:cNvPr>
          <p:cNvPicPr>
            <a:picLocks noChangeAspect="1"/>
          </p:cNvPicPr>
          <p:nvPr/>
        </p:nvPicPr>
        <p:blipFill>
          <a:blip r:embed="rId3"/>
          <a:stretch>
            <a:fillRect/>
          </a:stretch>
        </p:blipFill>
        <p:spPr>
          <a:xfrm>
            <a:off x="2330058" y="31500"/>
            <a:ext cx="7531883" cy="5379915"/>
          </a:xfrm>
          <a:prstGeom prst="rect">
            <a:avLst/>
          </a:prstGeom>
        </p:spPr>
      </p:pic>
      <p:sp>
        <p:nvSpPr>
          <p:cNvPr id="7" name="Rectangle 3">
            <a:extLst>
              <a:ext uri="{FF2B5EF4-FFF2-40B4-BE49-F238E27FC236}">
                <a16:creationId xmlns:a16="http://schemas.microsoft.com/office/drawing/2014/main" id="{FB21DFDF-B3DF-EC85-E918-308890C17E23}"/>
              </a:ext>
            </a:extLst>
          </p:cNvPr>
          <p:cNvSpPr>
            <a:spLocks noChangeArrowheads="1"/>
          </p:cNvSpPr>
          <p:nvPr/>
        </p:nvSpPr>
        <p:spPr bwMode="auto">
          <a:xfrm>
            <a:off x="555171" y="5256840"/>
            <a:ext cx="1195251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Weekends generate the highest total daily sales</a:t>
            </a:r>
          </a:p>
          <a:p>
            <a:pPr marL="285750" indent="-28575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Holidays also produce elevated revenue levels</a:t>
            </a:r>
          </a:p>
          <a:p>
            <a:pPr marL="285750" indent="-28575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Weekdays remain steady but lower than peak periods</a:t>
            </a:r>
          </a:p>
        </p:txBody>
      </p:sp>
    </p:spTree>
    <p:extLst>
      <p:ext uri="{BB962C8B-B14F-4D97-AF65-F5344CB8AC3E}">
        <p14:creationId xmlns:p14="http://schemas.microsoft.com/office/powerpoint/2010/main" val="22414591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25</a:t>
            </a:fld>
            <a:endParaRPr lang="en-US" dirty="0"/>
          </a:p>
        </p:txBody>
      </p:sp>
      <p:pic>
        <p:nvPicPr>
          <p:cNvPr id="4" name="Picture 3">
            <a:extLst>
              <a:ext uri="{FF2B5EF4-FFF2-40B4-BE49-F238E27FC236}">
                <a16:creationId xmlns:a16="http://schemas.microsoft.com/office/drawing/2014/main" id="{C9B481B9-24A4-27CF-E92F-546C3EC8663B}"/>
              </a:ext>
            </a:extLst>
          </p:cNvPr>
          <p:cNvPicPr>
            <a:picLocks noChangeAspect="1"/>
          </p:cNvPicPr>
          <p:nvPr/>
        </p:nvPicPr>
        <p:blipFill>
          <a:blip r:embed="rId3"/>
          <a:stretch>
            <a:fillRect/>
          </a:stretch>
        </p:blipFill>
        <p:spPr>
          <a:xfrm>
            <a:off x="269261" y="316323"/>
            <a:ext cx="5826739" cy="4161956"/>
          </a:xfrm>
          <a:prstGeom prst="rect">
            <a:avLst/>
          </a:prstGeom>
        </p:spPr>
      </p:pic>
      <p:pic>
        <p:nvPicPr>
          <p:cNvPr id="5" name="Picture 4">
            <a:extLst>
              <a:ext uri="{FF2B5EF4-FFF2-40B4-BE49-F238E27FC236}">
                <a16:creationId xmlns:a16="http://schemas.microsoft.com/office/drawing/2014/main" id="{D61B6782-2395-4CA7-99DC-6713098009F9}"/>
              </a:ext>
            </a:extLst>
          </p:cNvPr>
          <p:cNvPicPr>
            <a:picLocks noChangeAspect="1"/>
          </p:cNvPicPr>
          <p:nvPr/>
        </p:nvPicPr>
        <p:blipFill>
          <a:blip r:embed="rId4"/>
          <a:stretch>
            <a:fillRect/>
          </a:stretch>
        </p:blipFill>
        <p:spPr>
          <a:xfrm>
            <a:off x="6159646" y="361784"/>
            <a:ext cx="5763093" cy="4116495"/>
          </a:xfrm>
          <a:prstGeom prst="rect">
            <a:avLst/>
          </a:prstGeom>
        </p:spPr>
      </p:pic>
      <p:sp>
        <p:nvSpPr>
          <p:cNvPr id="8" name="Rectangle 1">
            <a:extLst>
              <a:ext uri="{FF2B5EF4-FFF2-40B4-BE49-F238E27FC236}">
                <a16:creationId xmlns:a16="http://schemas.microsoft.com/office/drawing/2014/main" id="{FB455B45-9C21-BE72-7771-15DEF5E52057}"/>
              </a:ext>
            </a:extLst>
          </p:cNvPr>
          <p:cNvSpPr>
            <a:spLocks noChangeArrowheads="1"/>
          </p:cNvSpPr>
          <p:nvPr/>
        </p:nvSpPr>
        <p:spPr bwMode="auto">
          <a:xfrm>
            <a:off x="1437036" y="4896667"/>
            <a:ext cx="855605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Consistent Friday–Saturday peaks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Stable weekly rhythm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Clendar</a:t>
            </a:r>
            <a:r>
              <a:rPr kumimoji="0" lang="en-US" altLang="en-US" sz="3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alignment removes date bias</a:t>
            </a:r>
          </a:p>
        </p:txBody>
      </p:sp>
    </p:spTree>
    <p:extLst>
      <p:ext uri="{BB962C8B-B14F-4D97-AF65-F5344CB8AC3E}">
        <p14:creationId xmlns:p14="http://schemas.microsoft.com/office/powerpoint/2010/main" val="35715163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C97BE-403B-122E-90D1-2788978A0B6F}"/>
              </a:ext>
            </a:extLst>
          </p:cNvPr>
          <p:cNvSpPr>
            <a:spLocks noGrp="1"/>
          </p:cNvSpPr>
          <p:nvPr>
            <p:ph type="ctrTitle"/>
          </p:nvPr>
        </p:nvSpPr>
        <p:spPr>
          <a:xfrm>
            <a:off x="1017743" y="5073444"/>
            <a:ext cx="10309018" cy="1531197"/>
          </a:xfrm>
        </p:spPr>
        <p:txBody>
          <a:bodyPr/>
          <a:lstStyle/>
          <a:p>
            <a:r>
              <a:rPr lang="en-US" sz="3200" dirty="0">
                <a:highlight>
                  <a:srgbClr val="000000"/>
                </a:highlight>
              </a:rPr>
              <a:t>December is consistently the peak month</a:t>
            </a:r>
            <a:br>
              <a:rPr lang="en-US" sz="3200" dirty="0">
                <a:highlight>
                  <a:srgbClr val="000000"/>
                </a:highlight>
              </a:rPr>
            </a:br>
            <a:r>
              <a:rPr lang="en-US" sz="3200" dirty="0">
                <a:highlight>
                  <a:srgbClr val="000000"/>
                </a:highlight>
              </a:rPr>
              <a:t>January drops sharply</a:t>
            </a:r>
            <a:br>
              <a:rPr lang="en-US" sz="3200" dirty="0">
                <a:highlight>
                  <a:srgbClr val="000000"/>
                </a:highlight>
              </a:rPr>
            </a:br>
            <a:r>
              <a:rPr lang="en-US" sz="3200" dirty="0">
                <a:highlight>
                  <a:srgbClr val="000000"/>
                </a:highlight>
              </a:rPr>
              <a:t>Spring recovery follows the same pattern</a:t>
            </a:r>
          </a:p>
        </p:txBody>
      </p:sp>
      <p:pic>
        <p:nvPicPr>
          <p:cNvPr id="3" name="Picture 2">
            <a:extLst>
              <a:ext uri="{FF2B5EF4-FFF2-40B4-BE49-F238E27FC236}">
                <a16:creationId xmlns:a16="http://schemas.microsoft.com/office/drawing/2014/main" id="{F6AA6C42-EA6E-C901-6F62-44EB1C90165D}"/>
              </a:ext>
            </a:extLst>
          </p:cNvPr>
          <p:cNvPicPr>
            <a:picLocks noChangeAspect="1"/>
          </p:cNvPicPr>
          <p:nvPr/>
        </p:nvPicPr>
        <p:blipFill>
          <a:blip r:embed="rId3"/>
          <a:stretch>
            <a:fillRect/>
          </a:stretch>
        </p:blipFill>
        <p:spPr>
          <a:xfrm>
            <a:off x="1" y="0"/>
            <a:ext cx="8066314" cy="4938559"/>
          </a:xfrm>
          <a:prstGeom prst="rect">
            <a:avLst/>
          </a:prstGeom>
        </p:spPr>
      </p:pic>
    </p:spTree>
    <p:extLst>
      <p:ext uri="{BB962C8B-B14F-4D97-AF65-F5344CB8AC3E}">
        <p14:creationId xmlns:p14="http://schemas.microsoft.com/office/powerpoint/2010/main" val="3346967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74B0ADB-527F-A58C-9372-D8502ED6F918}"/>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27</a:t>
            </a:fld>
            <a:endParaRPr lang="en-US" dirty="0"/>
          </a:p>
        </p:txBody>
      </p:sp>
      <p:pic>
        <p:nvPicPr>
          <p:cNvPr id="7" name="Picture 6">
            <a:extLst>
              <a:ext uri="{FF2B5EF4-FFF2-40B4-BE49-F238E27FC236}">
                <a16:creationId xmlns:a16="http://schemas.microsoft.com/office/drawing/2014/main" id="{8CA9D71B-BB5C-CB43-049A-78D0C9C42DC8}"/>
              </a:ext>
            </a:extLst>
          </p:cNvPr>
          <p:cNvPicPr>
            <a:picLocks noChangeAspect="1"/>
          </p:cNvPicPr>
          <p:nvPr/>
        </p:nvPicPr>
        <p:blipFill>
          <a:blip r:embed="rId3"/>
          <a:stretch>
            <a:fillRect/>
          </a:stretch>
        </p:blipFill>
        <p:spPr>
          <a:xfrm>
            <a:off x="4172248" y="187911"/>
            <a:ext cx="7372075" cy="5265767"/>
          </a:xfrm>
          <a:prstGeom prst="rect">
            <a:avLst/>
          </a:prstGeom>
        </p:spPr>
      </p:pic>
      <p:sp>
        <p:nvSpPr>
          <p:cNvPr id="8" name="TextBox 7">
            <a:extLst>
              <a:ext uri="{FF2B5EF4-FFF2-40B4-BE49-F238E27FC236}">
                <a16:creationId xmlns:a16="http://schemas.microsoft.com/office/drawing/2014/main" id="{5A5ADDE5-9304-FD53-33E7-246A00DDD734}"/>
              </a:ext>
            </a:extLst>
          </p:cNvPr>
          <p:cNvSpPr txBox="1"/>
          <p:nvPr/>
        </p:nvSpPr>
        <p:spPr>
          <a:xfrm>
            <a:off x="192416" y="5453678"/>
            <a:ext cx="8804884" cy="1077218"/>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Tequila, vodka, bourbon high impact</a:t>
            </a:r>
          </a:p>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Key categories for assortment and forecasting</a:t>
            </a:r>
          </a:p>
        </p:txBody>
      </p:sp>
    </p:spTree>
    <p:extLst>
      <p:ext uri="{BB962C8B-B14F-4D97-AF65-F5344CB8AC3E}">
        <p14:creationId xmlns:p14="http://schemas.microsoft.com/office/powerpoint/2010/main" val="16581646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C127D99-645F-4FCF-9573-FDFE2A344FA9}"/>
              </a:ext>
            </a:extLst>
          </p:cNvPr>
          <p:cNvSpPr>
            <a:spLocks noGrp="1"/>
          </p:cNvSpPr>
          <p:nvPr>
            <p:ph type="sldNum" sz="quarter" idx="12"/>
          </p:nvPr>
        </p:nvSpPr>
        <p:spPr>
          <a:xfrm>
            <a:off x="9579428" y="6356350"/>
            <a:ext cx="1774371" cy="365125"/>
          </a:xfrm>
        </p:spPr>
        <p:txBody>
          <a:bodyPr/>
          <a:lstStyle/>
          <a:p>
            <a:fld id="{A49DFD55-3C28-40EF-9E31-A92D2E4017FF}" type="slidenum">
              <a:rPr lang="en-US" smtClean="0"/>
              <a:pPr/>
              <a:t>28</a:t>
            </a:fld>
            <a:endParaRPr lang="en-US" dirty="0"/>
          </a:p>
        </p:txBody>
      </p:sp>
      <p:pic>
        <p:nvPicPr>
          <p:cNvPr id="9" name="Picture 8">
            <a:extLst>
              <a:ext uri="{FF2B5EF4-FFF2-40B4-BE49-F238E27FC236}">
                <a16:creationId xmlns:a16="http://schemas.microsoft.com/office/drawing/2014/main" id="{FABCDAF5-197A-1DDD-114B-08BB085E80A3}"/>
              </a:ext>
            </a:extLst>
          </p:cNvPr>
          <p:cNvPicPr>
            <a:picLocks noChangeAspect="1"/>
          </p:cNvPicPr>
          <p:nvPr/>
        </p:nvPicPr>
        <p:blipFill>
          <a:blip r:embed="rId3"/>
          <a:stretch>
            <a:fillRect/>
          </a:stretch>
        </p:blipFill>
        <p:spPr>
          <a:xfrm>
            <a:off x="1330778" y="136525"/>
            <a:ext cx="9530444" cy="5246116"/>
          </a:xfrm>
          <a:prstGeom prst="rect">
            <a:avLst/>
          </a:prstGeom>
        </p:spPr>
      </p:pic>
      <p:sp>
        <p:nvSpPr>
          <p:cNvPr id="10" name="TextBox 9">
            <a:extLst>
              <a:ext uri="{FF2B5EF4-FFF2-40B4-BE49-F238E27FC236}">
                <a16:creationId xmlns:a16="http://schemas.microsoft.com/office/drawing/2014/main" id="{428866DE-61B5-7B3E-F781-145A081B1790}"/>
              </a:ext>
            </a:extLst>
          </p:cNvPr>
          <p:cNvSpPr txBox="1"/>
          <p:nvPr/>
        </p:nvSpPr>
        <p:spPr>
          <a:xfrm>
            <a:off x="2692399" y="5644257"/>
            <a:ext cx="8460014" cy="1077218"/>
          </a:xfrm>
          <a:prstGeom prst="rect">
            <a:avLst/>
          </a:prstGeom>
          <a:noFill/>
        </p:spPr>
        <p:txBody>
          <a:bodyPr wrap="square">
            <a:spAutoFit/>
          </a:bodyPr>
          <a:lstStyle/>
          <a:p>
            <a:pPr marL="457200" indent="-457200">
              <a:buFont typeface="Arial" panose="020B0604020202020204" pitchFamily="34" charset="0"/>
              <a:buChar char="•"/>
            </a:pPr>
            <a:r>
              <a:rPr lang="en-US" sz="3200" dirty="0">
                <a:solidFill>
                  <a:schemeClr val="bg1"/>
                </a:solidFill>
                <a:latin typeface="Calibri" panose="020F0502020204030204" pitchFamily="34" charset="0"/>
                <a:ea typeface="Calibri" panose="020F0502020204030204" pitchFamily="34" charset="0"/>
                <a:cs typeface="Calibri" panose="020F0502020204030204" pitchFamily="34" charset="0"/>
              </a:rPr>
              <a:t>Core sizes dominate</a:t>
            </a:r>
          </a:p>
          <a:p>
            <a:pPr marL="457200" indent="-457200">
              <a:buFont typeface="Arial" panose="020B0604020202020204" pitchFamily="34" charset="0"/>
              <a:buChar char="•"/>
            </a:pPr>
            <a:r>
              <a:rPr lang="en-US" sz="3200" dirty="0">
                <a:solidFill>
                  <a:schemeClr val="bg1"/>
                </a:solidFill>
                <a:latin typeface="Calibri" panose="020F0502020204030204" pitchFamily="34" charset="0"/>
                <a:ea typeface="Calibri" panose="020F0502020204030204" pitchFamily="34" charset="0"/>
                <a:cs typeface="Calibri" panose="020F0502020204030204" pitchFamily="34" charset="0"/>
              </a:rPr>
              <a:t>Fringe formats low impact</a:t>
            </a:r>
          </a:p>
        </p:txBody>
      </p:sp>
    </p:spTree>
    <p:extLst>
      <p:ext uri="{BB962C8B-B14F-4D97-AF65-F5344CB8AC3E}">
        <p14:creationId xmlns:p14="http://schemas.microsoft.com/office/powerpoint/2010/main" val="19697875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D0D43D5-F763-9863-E110-364943598B74}"/>
              </a:ext>
            </a:extLst>
          </p:cNvPr>
          <p:cNvPicPr>
            <a:picLocks noChangeAspect="1"/>
          </p:cNvPicPr>
          <p:nvPr/>
        </p:nvPicPr>
        <p:blipFill>
          <a:blip r:embed="rId3"/>
          <a:stretch>
            <a:fillRect/>
          </a:stretch>
        </p:blipFill>
        <p:spPr>
          <a:xfrm>
            <a:off x="122903" y="381758"/>
            <a:ext cx="6884961" cy="4917829"/>
          </a:xfrm>
          <a:prstGeom prst="rect">
            <a:avLst/>
          </a:prstGeom>
        </p:spPr>
      </p:pic>
      <p:sp>
        <p:nvSpPr>
          <p:cNvPr id="2" name="Title 1"/>
          <p:cNvSpPr>
            <a:spLocks noGrp="1"/>
          </p:cNvSpPr>
          <p:nvPr>
            <p:ph type="title"/>
          </p:nvPr>
        </p:nvSpPr>
        <p:spPr>
          <a:xfrm>
            <a:off x="122903" y="97658"/>
            <a:ext cx="8229600" cy="568200"/>
          </a:xfrm>
        </p:spPr>
        <p:txBody>
          <a:bodyPr>
            <a:normAutofit fontScale="90000"/>
          </a:bodyPr>
          <a:lstStyle/>
          <a:p>
            <a:r>
              <a:rPr lang="en-US" dirty="0"/>
              <a:t>Elastic Net Cross-Validation</a:t>
            </a:r>
            <a:endParaRPr dirty="0"/>
          </a:p>
        </p:txBody>
      </p:sp>
      <p:sp>
        <p:nvSpPr>
          <p:cNvPr id="8" name="TextBox 7">
            <a:extLst>
              <a:ext uri="{FF2B5EF4-FFF2-40B4-BE49-F238E27FC236}">
                <a16:creationId xmlns:a16="http://schemas.microsoft.com/office/drawing/2014/main" id="{2FA3C205-2497-E61B-2AE8-32CEE9F28472}"/>
              </a:ext>
            </a:extLst>
          </p:cNvPr>
          <p:cNvSpPr txBox="1"/>
          <p:nvPr/>
        </p:nvSpPr>
        <p:spPr>
          <a:xfrm>
            <a:off x="6882581" y="1404369"/>
            <a:ext cx="5186516" cy="4524315"/>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Elastic Net used to test stability under correlated predictors</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Strong penalty quickly removes weaker variables</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Traffic intensity is the only predictor that consistently survives</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Basket metrics and category mix shrink to zero under regularization</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ENET confirms traffic’s dominance but fits worse than OLS</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Best used for variable screening, not for final prediction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263745-D784-76ED-1164-CCA4197B63BB}"/>
              </a:ext>
            </a:extLst>
          </p:cNvPr>
          <p:cNvPicPr>
            <a:picLocks noChangeAspect="1"/>
          </p:cNvPicPr>
          <p:nvPr/>
        </p:nvPicPr>
        <p:blipFill>
          <a:blip r:embed="rId3"/>
          <a:stretch>
            <a:fillRect/>
          </a:stretch>
        </p:blipFill>
        <p:spPr>
          <a:xfrm>
            <a:off x="4522324" y="147485"/>
            <a:ext cx="7546774" cy="5390552"/>
          </a:xfrm>
          <a:prstGeom prst="rect">
            <a:avLst/>
          </a:prstGeom>
        </p:spPr>
      </p:pic>
      <p:sp>
        <p:nvSpPr>
          <p:cNvPr id="5" name="TextBox 4">
            <a:extLst>
              <a:ext uri="{FF2B5EF4-FFF2-40B4-BE49-F238E27FC236}">
                <a16:creationId xmlns:a16="http://schemas.microsoft.com/office/drawing/2014/main" id="{5A330BB9-7B04-8544-A1B0-8567564ADF75}"/>
              </a:ext>
            </a:extLst>
          </p:cNvPr>
          <p:cNvSpPr txBox="1"/>
          <p:nvPr/>
        </p:nvSpPr>
        <p:spPr>
          <a:xfrm>
            <a:off x="298479" y="5063447"/>
            <a:ext cx="12227350" cy="1477328"/>
          </a:xfrm>
          <a:prstGeom prst="rect">
            <a:avLst/>
          </a:prstGeom>
          <a:noFill/>
        </p:spPr>
        <p:txBody>
          <a:bodyPr wrap="square">
            <a:spAutoFit/>
          </a:bodyPr>
          <a:lstStyle/>
          <a:p>
            <a:r>
              <a:rPr lang="en-US" dirty="0"/>
              <a:t>OLS fits on the log scale:</a:t>
            </a:r>
          </a:p>
          <a:p>
            <a:br>
              <a:rPr lang="en-US" dirty="0"/>
            </a:br>
            <a:r>
              <a:rPr lang="en-US" b="1" dirty="0"/>
              <a:t> log (</a:t>
            </a:r>
            <a:r>
              <a:rPr lang="en-US" b="1" dirty="0" err="1"/>
              <a:t>SalesPerSqFt</a:t>
            </a:r>
            <a:r>
              <a:rPr lang="en-US" b="1" dirty="0"/>
              <a:t>) ~ sim </a:t>
            </a:r>
            <a:r>
              <a:rPr lang="en-US" b="1" dirty="0" err="1"/>
              <a:t>SquareFootage</a:t>
            </a:r>
            <a:r>
              <a:rPr lang="en-US" b="1" dirty="0"/>
              <a:t> + </a:t>
            </a:r>
            <a:r>
              <a:rPr lang="en-US" b="1" dirty="0" err="1"/>
              <a:t>TotalPopulation</a:t>
            </a:r>
            <a:r>
              <a:rPr lang="en-US" b="1" dirty="0"/>
              <a:t> + Older25Years + </a:t>
            </a:r>
            <a:r>
              <a:rPr lang="en-US" b="1" dirty="0" err="1"/>
              <a:t>PovertyLevel</a:t>
            </a:r>
            <a:r>
              <a:rPr lang="en-US" b="1" dirty="0"/>
              <a:t> + </a:t>
            </a:r>
            <a:r>
              <a:rPr lang="en-US" b="1" dirty="0" err="1"/>
              <a:t>Avg_BasketValue</a:t>
            </a:r>
            <a:r>
              <a:rPr lang="en-US" b="1" dirty="0"/>
              <a:t> + </a:t>
            </a:r>
            <a:r>
              <a:rPr lang="en-US" b="1" dirty="0" err="1"/>
              <a:t>AvgItemsPerBasket</a:t>
            </a:r>
            <a:r>
              <a:rPr lang="en-US" b="1" dirty="0"/>
              <a:t> + </a:t>
            </a:r>
            <a:r>
              <a:rPr lang="en-US" b="1" dirty="0" err="1"/>
              <a:t>TotalTransactionsPerSqFt</a:t>
            </a:r>
            <a:r>
              <a:rPr lang="en-US" b="1" dirty="0"/>
              <a:t> + </a:t>
            </a:r>
            <a:r>
              <a:rPr lang="en-US" b="1" dirty="0" err="1"/>
              <a:t>Share_BEER</a:t>
            </a:r>
            <a:r>
              <a:rPr lang="en-US" b="1" dirty="0"/>
              <a:t> + </a:t>
            </a:r>
            <a:r>
              <a:rPr lang="en-US" b="1" dirty="0" err="1"/>
              <a:t>Share_LIQ</a:t>
            </a:r>
            <a:r>
              <a:rPr lang="en-US" b="1" dirty="0"/>
              <a:t> + </a:t>
            </a:r>
            <a:r>
              <a:rPr lang="en-US" b="1" dirty="0" err="1"/>
              <a:t>Share_WINE</a:t>
            </a:r>
            <a:r>
              <a:rPr lang="en-US" b="1" dirty="0"/>
              <a:t> + </a:t>
            </a:r>
            <a:r>
              <a:rPr lang="en-US" b="1" dirty="0" err="1"/>
              <a:t>Share_Weekday</a:t>
            </a:r>
            <a:r>
              <a:rPr lang="en-US" b="1" dirty="0"/>
              <a:t> + </a:t>
            </a:r>
            <a:r>
              <a:rPr lang="en-US" b="1" dirty="0" err="1"/>
              <a:t>Share_Weekend</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58E0A0F-2E79-CA73-3B3E-7D6BFD118AD8}"/>
              </a:ext>
            </a:extLst>
          </p:cNvPr>
          <p:cNvPicPr>
            <a:picLocks noChangeAspect="1"/>
          </p:cNvPicPr>
          <p:nvPr/>
        </p:nvPicPr>
        <p:blipFill>
          <a:blip r:embed="rId3"/>
          <a:stretch>
            <a:fillRect/>
          </a:stretch>
        </p:blipFill>
        <p:spPr>
          <a:xfrm>
            <a:off x="4867459" y="248248"/>
            <a:ext cx="7181997" cy="5129997"/>
          </a:xfrm>
          <a:prstGeom prst="rect">
            <a:avLst/>
          </a:prstGeom>
        </p:spPr>
      </p:pic>
      <p:sp>
        <p:nvSpPr>
          <p:cNvPr id="5" name="TextBox 4">
            <a:extLst>
              <a:ext uri="{FF2B5EF4-FFF2-40B4-BE49-F238E27FC236}">
                <a16:creationId xmlns:a16="http://schemas.microsoft.com/office/drawing/2014/main" id="{BA241AC9-08C3-65EB-7509-EA1C0D626409}"/>
              </a:ext>
            </a:extLst>
          </p:cNvPr>
          <p:cNvSpPr txBox="1"/>
          <p:nvPr/>
        </p:nvSpPr>
        <p:spPr>
          <a:xfrm>
            <a:off x="259618" y="4301428"/>
            <a:ext cx="5207117" cy="2308324"/>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Below the line → underperformance</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Above the line → overperformance</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Underperformance appears at all predicted sales levels</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Reveals operational gaps hidden by revenue totals</a:t>
            </a:r>
          </a:p>
        </p:txBody>
      </p:sp>
    </p:spTree>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3.xml><?xml version="1.0" encoding="utf-8"?>
<ds:datastoreItem xmlns:ds="http://schemas.openxmlformats.org/officeDocument/2006/customXml" ds:itemID="{49168DCE-134F-4610-A6AA-88CEBE8D71D2}">
  <ds:schemaRefs>
    <ds:schemaRef ds:uri="16c05727-aa75-4e4a-9b5f-8a80a1165891"/>
    <ds:schemaRef ds:uri="http://schemas.microsoft.com/office/2006/documentManagement/types"/>
    <ds:schemaRef ds:uri="71af3243-3dd4-4a8d-8c0d-dd76da1f02a5"/>
    <ds:schemaRef ds:uri="http://purl.org/dc/elements/1.1/"/>
    <ds:schemaRef ds:uri="230e9df3-be65-4c73-a93b-d1236ebd677e"/>
    <ds:schemaRef ds:uri="http://schemas.openxmlformats.org/package/2006/metadata/core-properties"/>
    <ds:schemaRef ds:uri="http://schemas.microsoft.com/office/infopath/2007/PartnerControls"/>
    <ds:schemaRef ds:uri="http://www.w3.org/XML/1998/namespace"/>
    <ds:schemaRef ds:uri="http://purl.org/dc/dcmitype/"/>
    <ds:schemaRef ds:uri="http://schemas.microsoft.com/sharepoint/v3"/>
    <ds:schemaRef ds:uri="http://schemas.microsoft.com/office/2006/metadata/properties"/>
    <ds:schemaRef ds:uri="http://purl.org/dc/te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{B5BDBAA3-9BF5-4783-A6E5-F7F5D6E17376}TF7521aafa-c748-4c40-a498-ba511be234dc5b1b6097_win32-5039330bb2f3</Template>
  <TotalTime>745</TotalTime>
  <Words>4057</Words>
  <Application>Microsoft Office PowerPoint</Application>
  <PresentationFormat>Widescreen</PresentationFormat>
  <Paragraphs>323</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Tenorite</vt:lpstr>
      <vt:lpstr>Custom</vt:lpstr>
      <vt:lpstr>ABS Store Performance Analysis</vt:lpstr>
      <vt:lpstr>Data Overview &amp; Cleaning Strategy</vt:lpstr>
      <vt:lpstr>PowerPoint Presentation</vt:lpstr>
      <vt:lpstr>PowerPoint Presentation</vt:lpstr>
      <vt:lpstr>PowerPoint Presentation</vt:lpstr>
      <vt:lpstr>PowerPoint Presentation</vt:lpstr>
      <vt:lpstr>PowerPoint Presentation</vt:lpstr>
      <vt:lpstr>PowerPoint Presentation</vt:lpstr>
      <vt:lpstr>Demographics vs Sales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Insights</vt:lpstr>
      <vt:lpstr>Recommendation</vt:lpstr>
      <vt:lpstr>acknowledgment </vt:lpstr>
      <vt:lpstr>Thank you</vt:lpstr>
      <vt:lpstr>ABS Mission &amp; Why This Analysis Matters</vt:lpstr>
      <vt:lpstr>PowerPoint Presentation</vt:lpstr>
      <vt:lpstr>PowerPoint Presentation</vt:lpstr>
      <vt:lpstr>December is consistently the peak month January drops sharply Spring recovery follows the same pattern</vt:lpstr>
      <vt:lpstr>PowerPoint Presentation</vt:lpstr>
      <vt:lpstr>PowerPoint Presentation</vt:lpstr>
      <vt:lpstr>Elastic Net Cross-Validation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Arash Nateghian</dc:creator>
  <cp:lastModifiedBy>Arash Nateghian</cp:lastModifiedBy>
  <cp:revision>16</cp:revision>
  <cp:lastPrinted>2025-12-11T18:17:00Z</cp:lastPrinted>
  <dcterms:created xsi:type="dcterms:W3CDTF">2025-12-10T19:44:15Z</dcterms:created>
  <dcterms:modified xsi:type="dcterms:W3CDTF">2025-12-11T19:53:18Z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